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2"/>
    <p:sldId id="274" r:id="rId3"/>
    <p:sldId id="321" r:id="rId4"/>
    <p:sldId id="330" r:id="rId5"/>
    <p:sldId id="329" r:id="rId6"/>
    <p:sldId id="322" r:id="rId7"/>
    <p:sldId id="324" r:id="rId8"/>
    <p:sldId id="262" r:id="rId9"/>
    <p:sldId id="260" r:id="rId10"/>
    <p:sldId id="333" r:id="rId11"/>
    <p:sldId id="325" r:id="rId12"/>
    <p:sldId id="331" r:id="rId13"/>
    <p:sldId id="306" r:id="rId14"/>
    <p:sldId id="327" r:id="rId15"/>
    <p:sldId id="332" r:id="rId16"/>
    <p:sldId id="265" r:id="rId17"/>
    <p:sldId id="326" r:id="rId18"/>
    <p:sldId id="266" r:id="rId19"/>
    <p:sldId id="272" r:id="rId20"/>
    <p:sldId id="323"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77B0306-436D-426B-B0D5-3C2AB99B11D1}" type="datetimeFigureOut">
              <a:rPr lang="en-IN" smtClean="0"/>
              <a:t>17-11-2025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D03952D-C3B0-4113-A2DE-67017FCB5158}" type="slidenum">
              <a:rPr lang="en-IN" smtClean="0"/>
              <a:t>‹#›</a:t>
            </a:fld>
            <a:endParaRPr lang="en-IN"/>
          </a:p>
        </p:txBody>
      </p:sp>
    </p:spTree>
    <p:extLst>
      <p:ext uri="{BB962C8B-B14F-4D97-AF65-F5344CB8AC3E}">
        <p14:creationId xmlns:p14="http://schemas.microsoft.com/office/powerpoint/2010/main" val="2829956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Why you studying this materials</a:t>
            </a:r>
            <a:endParaRPr lang="en-US" dirty="0"/>
          </a:p>
        </p:txBody>
      </p:sp>
      <p:sp>
        <p:nvSpPr>
          <p:cNvPr id="4" name="Slide Number Placeholder 3"/>
          <p:cNvSpPr>
            <a:spLocks noGrp="1"/>
          </p:cNvSpPr>
          <p:nvPr>
            <p:ph type="sldNum" sz="quarter" idx="5"/>
          </p:nvPr>
        </p:nvSpPr>
        <p:spPr/>
        <p:txBody>
          <a:bodyPr/>
          <a:lstStyle/>
          <a:p>
            <a:fld id="{7CC98406-194B-D342-8609-3215B06AB22E}" type="slidenum">
              <a:rPr lang="en-US" smtClean="0"/>
              <a:t>5</a:t>
            </a:fld>
            <a:endParaRPr lang="en-US"/>
          </a:p>
        </p:txBody>
      </p:sp>
    </p:spTree>
    <p:extLst>
      <p:ext uri="{BB962C8B-B14F-4D97-AF65-F5344CB8AC3E}">
        <p14:creationId xmlns:p14="http://schemas.microsoft.com/office/powerpoint/2010/main" val="206208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91C4A-2EB0-6108-76DC-93DFC023F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AB268-4A75-ECA8-D0DA-EF242B2407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85322D-E2A6-77B7-A14D-1D9E20E2C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D5601-3FCB-FBA6-A21A-64CD1CCB5B2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46598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03952D-C3B0-4113-A2DE-67017FCB5158}" type="slidenum">
              <a:rPr lang="en-IN" smtClean="0"/>
              <a:t>11</a:t>
            </a:fld>
            <a:endParaRPr lang="en-IN"/>
          </a:p>
        </p:txBody>
      </p:sp>
    </p:spTree>
    <p:extLst>
      <p:ext uri="{BB962C8B-B14F-4D97-AF65-F5344CB8AC3E}">
        <p14:creationId xmlns:p14="http://schemas.microsoft.com/office/powerpoint/2010/main" val="396626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FF00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FF00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F75DC-53ED-B610-8532-6196A8D888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BC46AE-E0B0-330D-974D-5681E5DF13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A85743-0A7B-52C9-3D39-BD2B701125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1A3D8B-33F3-8527-BF29-8B604ED7A70A}"/>
              </a:ext>
            </a:extLst>
          </p:cNvPr>
          <p:cNvSpPr>
            <a:spLocks noGrp="1"/>
          </p:cNvSpPr>
          <p:nvPr>
            <p:ph type="dt" sz="half" idx="10"/>
          </p:nvPr>
        </p:nvSpPr>
        <p:spPr/>
        <p:txBody>
          <a:bodyPr/>
          <a:lstStyle/>
          <a:p>
            <a:fld id="{DD7C5CF0-FF3C-475D-B9D5-979C8DCD8343}" type="datetimeFigureOut">
              <a:rPr lang="en-IN" smtClean="0"/>
              <a:t>17-11-2025</a:t>
            </a:fld>
            <a:endParaRPr lang="en-IN"/>
          </a:p>
        </p:txBody>
      </p:sp>
      <p:sp>
        <p:nvSpPr>
          <p:cNvPr id="6" name="Footer Placeholder 5">
            <a:extLst>
              <a:ext uri="{FF2B5EF4-FFF2-40B4-BE49-F238E27FC236}">
                <a16:creationId xmlns:a16="http://schemas.microsoft.com/office/drawing/2014/main" id="{BF7A4FE4-1162-2CB4-06C2-EC16BEDF1B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98F096-BEBF-90AF-EC9A-505498D1E754}"/>
              </a:ext>
            </a:extLst>
          </p:cNvPr>
          <p:cNvSpPr>
            <a:spLocks noGrp="1"/>
          </p:cNvSpPr>
          <p:nvPr>
            <p:ph type="sldNum" sz="quarter" idx="12"/>
          </p:nvPr>
        </p:nvSpPr>
        <p:spPr/>
        <p:txBody>
          <a:bodyPr/>
          <a:lstStyle/>
          <a:p>
            <a:fld id="{6CDF432B-650A-4ECB-93E1-6E41FF96E1FB}" type="slidenum">
              <a:rPr lang="en-IN" smtClean="0"/>
              <a:t>‹#›</a:t>
            </a:fld>
            <a:endParaRPr lang="en-IN"/>
          </a:p>
        </p:txBody>
      </p:sp>
    </p:spTree>
    <p:extLst>
      <p:ext uri="{BB962C8B-B14F-4D97-AF65-F5344CB8AC3E}">
        <p14:creationId xmlns:p14="http://schemas.microsoft.com/office/powerpoint/2010/main" val="904292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E951-5A10-20D6-3033-A581EE570C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8DA82E-24ED-B17A-11BB-058918A2A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8DC6AD-8620-237E-F926-B3064BEC02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162C73-C002-AC23-B72B-79E065A1AE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8CEFC8-58ED-41FE-98BC-5AF8849B0A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6A7501-448F-E696-2F0A-AED2932926F8}"/>
              </a:ext>
            </a:extLst>
          </p:cNvPr>
          <p:cNvSpPr>
            <a:spLocks noGrp="1"/>
          </p:cNvSpPr>
          <p:nvPr>
            <p:ph type="dt" sz="half" idx="10"/>
          </p:nvPr>
        </p:nvSpPr>
        <p:spPr/>
        <p:txBody>
          <a:bodyPr/>
          <a:lstStyle/>
          <a:p>
            <a:fld id="{DD7C5CF0-FF3C-475D-B9D5-979C8DCD8343}" type="datetimeFigureOut">
              <a:rPr lang="en-IN" smtClean="0"/>
              <a:t>17-11-2025</a:t>
            </a:fld>
            <a:endParaRPr lang="en-IN"/>
          </a:p>
        </p:txBody>
      </p:sp>
      <p:sp>
        <p:nvSpPr>
          <p:cNvPr id="8" name="Footer Placeholder 7">
            <a:extLst>
              <a:ext uri="{FF2B5EF4-FFF2-40B4-BE49-F238E27FC236}">
                <a16:creationId xmlns:a16="http://schemas.microsoft.com/office/drawing/2014/main" id="{1F004375-7B91-9935-6920-D5486D5B02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89B18F-118B-7BDF-1ECA-D537EF431CA6}"/>
              </a:ext>
            </a:extLst>
          </p:cNvPr>
          <p:cNvSpPr>
            <a:spLocks noGrp="1"/>
          </p:cNvSpPr>
          <p:nvPr>
            <p:ph type="sldNum" sz="quarter" idx="12"/>
          </p:nvPr>
        </p:nvSpPr>
        <p:spPr/>
        <p:txBody>
          <a:bodyPr/>
          <a:lstStyle/>
          <a:p>
            <a:fld id="{6CDF432B-650A-4ECB-93E1-6E41FF96E1FB}" type="slidenum">
              <a:rPr lang="en-IN" smtClean="0"/>
              <a:t>‹#›</a:t>
            </a:fld>
            <a:endParaRPr lang="en-IN"/>
          </a:p>
        </p:txBody>
      </p:sp>
    </p:spTree>
    <p:extLst>
      <p:ext uri="{BB962C8B-B14F-4D97-AF65-F5344CB8AC3E}">
        <p14:creationId xmlns:p14="http://schemas.microsoft.com/office/powerpoint/2010/main" val="1571686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257714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1207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74657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88647CE-AF99-EB44-8D14-DC9D1730DFAC}"/>
              </a:ext>
            </a:extLst>
          </p:cNvPr>
          <p:cNvSpPr>
            <a:spLocks noGrp="1"/>
          </p:cNvSpPr>
          <p:nvPr>
            <p:ph type="ftr" sz="quarter" idx="11"/>
          </p:nvPr>
        </p:nvSpPr>
        <p:spPr>
          <a:xfrm>
            <a:off x="1115518" y="6460403"/>
            <a:ext cx="41148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8A3F276-78C8-C347-B657-DCD6CAD5DFE8}"/>
              </a:ext>
            </a:extLst>
          </p:cNvPr>
          <p:cNvSpPr>
            <a:spLocks noGrp="1"/>
          </p:cNvSpPr>
          <p:nvPr>
            <p:ph type="sldNum" sz="quarter" idx="12"/>
          </p:nvPr>
        </p:nvSpPr>
        <p:spPr>
          <a:xfrm>
            <a:off x="164892" y="6460403"/>
            <a:ext cx="620843" cy="365125"/>
          </a:xfrm>
        </p:spPr>
        <p:txBody>
          <a:bodyPr/>
          <a:lstStyle>
            <a:lvl1pPr>
              <a:defRPr sz="1800" b="1">
                <a:solidFill>
                  <a:schemeClr val="tx1"/>
                </a:solidFill>
              </a:defRPr>
            </a:lvl1pPr>
          </a:lstStyle>
          <a:p>
            <a:fld id="{8FBEC28E-4BEC-434E-A174-17C0E8C4B2B2}" type="slidenum">
              <a:rPr lang="en-US" smtClean="0"/>
              <a:pPr/>
              <a:t>‹#›</a:t>
            </a:fld>
            <a:endParaRPr lang="en-US" dirty="0"/>
          </a:p>
        </p:txBody>
      </p:sp>
      <p:cxnSp>
        <p:nvCxnSpPr>
          <p:cNvPr id="9" name="Straight Connector 8">
            <a:extLst>
              <a:ext uri="{FF2B5EF4-FFF2-40B4-BE49-F238E27FC236}">
                <a16:creationId xmlns:a16="http://schemas.microsoft.com/office/drawing/2014/main" id="{3B8D9D5B-90E5-1444-81A3-9D74CD4EEC25}"/>
              </a:ext>
            </a:extLst>
          </p:cNvPr>
          <p:cNvCxnSpPr>
            <a:cxnSpLocks/>
          </p:cNvCxnSpPr>
          <p:nvPr userDrawn="1"/>
        </p:nvCxnSpPr>
        <p:spPr>
          <a:xfrm>
            <a:off x="0" y="705170"/>
            <a:ext cx="12192000" cy="0"/>
          </a:xfrm>
          <a:prstGeom prst="line">
            <a:avLst/>
          </a:prstGeom>
          <a:ln w="76200">
            <a:solidFill>
              <a:srgbClr val="94165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A699C8E-D860-A540-A60B-E8940192614E}"/>
              </a:ext>
            </a:extLst>
          </p:cNvPr>
          <p:cNvCxnSpPr>
            <a:cxnSpLocks/>
          </p:cNvCxnSpPr>
          <p:nvPr userDrawn="1"/>
        </p:nvCxnSpPr>
        <p:spPr>
          <a:xfrm>
            <a:off x="0" y="6382252"/>
            <a:ext cx="12147030" cy="0"/>
          </a:xfrm>
          <a:prstGeom prst="line">
            <a:avLst/>
          </a:prstGeom>
          <a:ln w="19050">
            <a:solidFill>
              <a:srgbClr val="94165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2391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3025" y="120958"/>
            <a:ext cx="11485880" cy="574040"/>
          </a:xfrm>
          <a:prstGeom prst="rect">
            <a:avLst/>
          </a:prstGeom>
        </p:spPr>
        <p:txBody>
          <a:bodyPr wrap="square" lIns="0" tIns="0" rIns="0" bIns="0">
            <a:spAutoFit/>
          </a:bodyPr>
          <a:lstStyle>
            <a:lvl1pPr>
              <a:defRPr sz="3200" b="1" i="0">
                <a:solidFill>
                  <a:srgbClr val="FF0000"/>
                </a:solidFill>
                <a:latin typeface="Calibri"/>
                <a:cs typeface="Calibri"/>
              </a:defRPr>
            </a:lvl1pPr>
          </a:lstStyle>
          <a:p>
            <a:endParaRPr/>
          </a:p>
        </p:txBody>
      </p:sp>
      <p:sp>
        <p:nvSpPr>
          <p:cNvPr id="3" name="Holder 3"/>
          <p:cNvSpPr>
            <a:spLocks noGrp="1"/>
          </p:cNvSpPr>
          <p:nvPr>
            <p:ph type="body" idx="1"/>
          </p:nvPr>
        </p:nvSpPr>
        <p:spPr>
          <a:xfrm>
            <a:off x="368255" y="1215392"/>
            <a:ext cx="10511790" cy="1769110"/>
          </a:xfrm>
          <a:prstGeom prst="rect">
            <a:avLst/>
          </a:prstGeom>
        </p:spPr>
        <p:txBody>
          <a:bodyPr wrap="square" lIns="0" tIns="0" rIns="0" bIns="0">
            <a:spAutoFit/>
          </a:bodyPr>
          <a:lstStyle>
            <a:lvl1pPr>
              <a:defRPr sz="2400" b="0" i="0">
                <a:solidFill>
                  <a:srgbClr val="FF0000"/>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 id="2147483672" r:id="rId1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
            <a:ext cx="12192000" cy="1845310"/>
          </a:xfrm>
          <a:custGeom>
            <a:avLst/>
            <a:gdLst/>
            <a:ahLst/>
            <a:cxnLst/>
            <a:rect l="l" t="t" r="r" b="b"/>
            <a:pathLst>
              <a:path w="12192000" h="1845310">
                <a:moveTo>
                  <a:pt x="12191999" y="1845302"/>
                </a:moveTo>
                <a:lnTo>
                  <a:pt x="0" y="1845302"/>
                </a:lnTo>
                <a:lnTo>
                  <a:pt x="0" y="0"/>
                </a:lnTo>
                <a:lnTo>
                  <a:pt x="12191999" y="0"/>
                </a:lnTo>
                <a:lnTo>
                  <a:pt x="12191999" y="1845302"/>
                </a:lnTo>
                <a:close/>
              </a:path>
            </a:pathLst>
          </a:custGeom>
          <a:solidFill>
            <a:srgbClr val="681450"/>
          </a:solidFill>
        </p:spPr>
        <p:txBody>
          <a:bodyPr wrap="square" lIns="0" tIns="0" rIns="0" bIns="0" rtlCol="0"/>
          <a:lstStyle/>
          <a:p>
            <a:endParaRPr/>
          </a:p>
        </p:txBody>
      </p:sp>
      <p:sp>
        <p:nvSpPr>
          <p:cNvPr id="3" name="object 3"/>
          <p:cNvSpPr txBox="1">
            <a:spLocks noGrp="1"/>
          </p:cNvSpPr>
          <p:nvPr>
            <p:ph type="title"/>
          </p:nvPr>
        </p:nvSpPr>
        <p:spPr>
          <a:xfrm>
            <a:off x="256503" y="-24768"/>
            <a:ext cx="11669395" cy="1243930"/>
          </a:xfrm>
          <a:prstGeom prst="rect">
            <a:avLst/>
          </a:prstGeom>
        </p:spPr>
        <p:txBody>
          <a:bodyPr vert="horz" wrap="square" lIns="0" tIns="12700" rIns="0" bIns="0" rtlCol="0">
            <a:spAutoFit/>
          </a:bodyPr>
          <a:lstStyle/>
          <a:p>
            <a:pPr marL="12065" marR="5080" indent="-3810" algn="ctr">
              <a:lnSpc>
                <a:spcPct val="100000"/>
              </a:lnSpc>
              <a:spcBef>
                <a:spcPts val="100"/>
              </a:spcBef>
            </a:pPr>
            <a:r>
              <a:rPr sz="4000" b="0" dirty="0">
                <a:solidFill>
                  <a:srgbClr val="FFFFFF"/>
                </a:solidFill>
                <a:latin typeface="Calibri"/>
                <a:cs typeface="Calibri"/>
              </a:rPr>
              <a:t>Title:</a:t>
            </a:r>
            <a:r>
              <a:rPr sz="4000" b="0" spc="-55" dirty="0">
                <a:solidFill>
                  <a:srgbClr val="FFFFFF"/>
                </a:solidFill>
                <a:latin typeface="Calibri"/>
                <a:cs typeface="Calibri"/>
              </a:rPr>
              <a:t> </a:t>
            </a:r>
            <a:r>
              <a:rPr lang="en-US" sz="4000" dirty="0">
                <a:solidFill>
                  <a:schemeClr val="bg2"/>
                </a:solidFill>
              </a:rPr>
              <a:t>Machine Learning Prediction of Potential </a:t>
            </a:r>
            <a:br>
              <a:rPr lang="en-US" sz="4000" dirty="0">
                <a:solidFill>
                  <a:schemeClr val="bg2"/>
                </a:solidFill>
              </a:rPr>
            </a:br>
            <a:r>
              <a:rPr lang="en-US" sz="4000" dirty="0">
                <a:solidFill>
                  <a:schemeClr val="bg2"/>
                </a:solidFill>
              </a:rPr>
              <a:t>Energy of </a:t>
            </a:r>
            <a:r>
              <a:rPr lang="en-US" sz="4000" dirty="0" err="1">
                <a:solidFill>
                  <a:schemeClr val="bg2"/>
                </a:solidFill>
              </a:rPr>
              <a:t>CuZr</a:t>
            </a:r>
            <a:endParaRPr sz="4000" dirty="0">
              <a:solidFill>
                <a:schemeClr val="bg2"/>
              </a:solidFill>
              <a:latin typeface="Calibri"/>
              <a:cs typeface="Calibri"/>
            </a:endParaRPr>
          </a:p>
        </p:txBody>
      </p:sp>
      <p:pic>
        <p:nvPicPr>
          <p:cNvPr id="4" name="object 4"/>
          <p:cNvPicPr/>
          <p:nvPr/>
        </p:nvPicPr>
        <p:blipFill>
          <a:blip r:embed="rId2" cstate="print"/>
          <a:stretch>
            <a:fillRect/>
          </a:stretch>
        </p:blipFill>
        <p:spPr>
          <a:xfrm>
            <a:off x="3038675" y="4799651"/>
            <a:ext cx="5943599" cy="1085849"/>
          </a:xfrm>
          <a:prstGeom prst="rect">
            <a:avLst/>
          </a:prstGeom>
        </p:spPr>
      </p:pic>
      <p:sp>
        <p:nvSpPr>
          <p:cNvPr id="5" name="object 5"/>
          <p:cNvSpPr txBox="1"/>
          <p:nvPr/>
        </p:nvSpPr>
        <p:spPr>
          <a:xfrm>
            <a:off x="3387302" y="2339713"/>
            <a:ext cx="6213897" cy="751488"/>
          </a:xfrm>
          <a:prstGeom prst="rect">
            <a:avLst/>
          </a:prstGeom>
        </p:spPr>
        <p:txBody>
          <a:bodyPr vert="horz" wrap="square" lIns="0" tIns="12700" rIns="0" bIns="0" rtlCol="0">
            <a:spAutoFit/>
          </a:bodyPr>
          <a:lstStyle/>
          <a:p>
            <a:pPr marL="3810" algn="ctr">
              <a:lnSpc>
                <a:spcPct val="100000"/>
              </a:lnSpc>
              <a:spcBef>
                <a:spcPts val="100"/>
              </a:spcBef>
            </a:pPr>
            <a:r>
              <a:rPr lang="en-IN" sz="2400" b="1" dirty="0">
                <a:latin typeface="Calibri"/>
                <a:cs typeface="Calibri"/>
              </a:rPr>
              <a:t>Ramavath Chinna Rayudu 22CSB0A45(CSE)</a:t>
            </a:r>
            <a:endParaRPr sz="2400" dirty="0">
              <a:latin typeface="Calibri"/>
              <a:cs typeface="Calibri"/>
            </a:endParaRPr>
          </a:p>
          <a:p>
            <a:pPr marL="3810" algn="ctr">
              <a:lnSpc>
                <a:spcPct val="100000"/>
              </a:lnSpc>
            </a:pPr>
            <a:r>
              <a:rPr lang="en-IN" sz="2400" b="1" dirty="0">
                <a:latin typeface="Calibri"/>
                <a:cs typeface="Calibri"/>
              </a:rPr>
              <a:t>Sabavath Kumar 22EEB0A65 (EEE)</a:t>
            </a:r>
            <a:endParaRPr sz="2400" dirty="0">
              <a:latin typeface="Calibri"/>
              <a:cs typeface="Calibri"/>
            </a:endParaRPr>
          </a:p>
        </p:txBody>
      </p:sp>
      <p:sp>
        <p:nvSpPr>
          <p:cNvPr id="6" name="object 6"/>
          <p:cNvSpPr txBox="1"/>
          <p:nvPr/>
        </p:nvSpPr>
        <p:spPr>
          <a:xfrm>
            <a:off x="2094566" y="5994317"/>
            <a:ext cx="7628890" cy="452120"/>
          </a:xfrm>
          <a:prstGeom prst="rect">
            <a:avLst/>
          </a:prstGeom>
        </p:spPr>
        <p:txBody>
          <a:bodyPr vert="horz" wrap="square" lIns="0" tIns="12700" rIns="0" bIns="0" rtlCol="0">
            <a:spAutoFit/>
          </a:bodyPr>
          <a:lstStyle/>
          <a:p>
            <a:pPr marL="12700">
              <a:lnSpc>
                <a:spcPct val="100000"/>
              </a:lnSpc>
              <a:spcBef>
                <a:spcPts val="100"/>
              </a:spcBef>
              <a:tabLst>
                <a:tab pos="6528434" algn="l"/>
              </a:tabLst>
            </a:pPr>
            <a:r>
              <a:rPr sz="2800" b="1" u="heavy" dirty="0">
                <a:solidFill>
                  <a:srgbClr val="681450"/>
                </a:solidFill>
                <a:uFill>
                  <a:solidFill>
                    <a:srgbClr val="681450"/>
                  </a:solidFill>
                </a:uFill>
                <a:latin typeface="Calibri"/>
                <a:cs typeface="Calibri"/>
              </a:rPr>
              <a:t>Machine</a:t>
            </a:r>
            <a:r>
              <a:rPr sz="2800" b="1" u="heavy" spc="-110" dirty="0">
                <a:solidFill>
                  <a:srgbClr val="681450"/>
                </a:solidFill>
                <a:uFill>
                  <a:solidFill>
                    <a:srgbClr val="681450"/>
                  </a:solidFill>
                </a:uFill>
                <a:latin typeface="Calibri"/>
                <a:cs typeface="Calibri"/>
              </a:rPr>
              <a:t> </a:t>
            </a:r>
            <a:r>
              <a:rPr sz="2800" b="1" u="heavy" dirty="0">
                <a:solidFill>
                  <a:srgbClr val="681450"/>
                </a:solidFill>
                <a:uFill>
                  <a:solidFill>
                    <a:srgbClr val="681450"/>
                  </a:solidFill>
                </a:uFill>
                <a:latin typeface="Calibri"/>
                <a:cs typeface="Calibri"/>
              </a:rPr>
              <a:t>Learning</a:t>
            </a:r>
            <a:r>
              <a:rPr sz="2800" b="1" u="heavy" spc="-110" dirty="0">
                <a:solidFill>
                  <a:srgbClr val="681450"/>
                </a:solidFill>
                <a:uFill>
                  <a:solidFill>
                    <a:srgbClr val="681450"/>
                  </a:solidFill>
                </a:uFill>
                <a:latin typeface="Calibri"/>
                <a:cs typeface="Calibri"/>
              </a:rPr>
              <a:t> </a:t>
            </a:r>
            <a:r>
              <a:rPr sz="2800" b="1" u="heavy" dirty="0">
                <a:solidFill>
                  <a:srgbClr val="681450"/>
                </a:solidFill>
                <a:uFill>
                  <a:solidFill>
                    <a:srgbClr val="681450"/>
                  </a:solidFill>
                </a:uFill>
                <a:latin typeface="Calibri"/>
                <a:cs typeface="Calibri"/>
              </a:rPr>
              <a:t>for</a:t>
            </a:r>
            <a:r>
              <a:rPr sz="2800" b="1" u="heavy" spc="-105" dirty="0">
                <a:solidFill>
                  <a:srgbClr val="681450"/>
                </a:solidFill>
                <a:uFill>
                  <a:solidFill>
                    <a:srgbClr val="681450"/>
                  </a:solidFill>
                </a:uFill>
                <a:latin typeface="Calibri"/>
                <a:cs typeface="Calibri"/>
              </a:rPr>
              <a:t> </a:t>
            </a:r>
            <a:r>
              <a:rPr sz="2800" b="1" u="heavy" dirty="0">
                <a:solidFill>
                  <a:srgbClr val="681450"/>
                </a:solidFill>
                <a:uFill>
                  <a:solidFill>
                    <a:srgbClr val="681450"/>
                  </a:solidFill>
                </a:uFill>
                <a:latin typeface="Calibri"/>
                <a:cs typeface="Calibri"/>
              </a:rPr>
              <a:t>materials</a:t>
            </a:r>
            <a:r>
              <a:rPr sz="2800" b="1" u="heavy" spc="-110" dirty="0">
                <a:solidFill>
                  <a:srgbClr val="681450"/>
                </a:solidFill>
                <a:uFill>
                  <a:solidFill>
                    <a:srgbClr val="681450"/>
                  </a:solidFill>
                </a:uFill>
                <a:latin typeface="Calibri"/>
                <a:cs typeface="Calibri"/>
              </a:rPr>
              <a:t> </a:t>
            </a:r>
            <a:r>
              <a:rPr sz="2800" b="1" u="heavy" spc="-10" dirty="0">
                <a:solidFill>
                  <a:srgbClr val="681450"/>
                </a:solidFill>
                <a:uFill>
                  <a:solidFill>
                    <a:srgbClr val="681450"/>
                  </a:solidFill>
                </a:uFill>
                <a:latin typeface="Calibri"/>
                <a:cs typeface="Calibri"/>
              </a:rPr>
              <a:t>informatics</a:t>
            </a:r>
            <a:r>
              <a:rPr sz="2800" b="1" u="heavy" dirty="0">
                <a:solidFill>
                  <a:srgbClr val="681450"/>
                </a:solidFill>
                <a:uFill>
                  <a:solidFill>
                    <a:srgbClr val="681450"/>
                  </a:solidFill>
                </a:uFill>
                <a:latin typeface="Calibri"/>
                <a:cs typeface="Calibri"/>
              </a:rPr>
              <a:t>	</a:t>
            </a:r>
            <a:r>
              <a:rPr sz="2800" b="1" u="heavy" spc="-10" dirty="0">
                <a:solidFill>
                  <a:srgbClr val="681450"/>
                </a:solidFill>
                <a:uFill>
                  <a:solidFill>
                    <a:srgbClr val="681450"/>
                  </a:solidFill>
                </a:uFill>
                <a:latin typeface="Calibri"/>
                <a:cs typeface="Calibri"/>
              </a:rPr>
              <a:t>(MLMI)</a:t>
            </a:r>
            <a:endParaRPr sz="28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744654-B815-4EF8-AD73-79110ADFD630}"/>
              </a:ext>
            </a:extLst>
          </p:cNvPr>
          <p:cNvSpPr txBox="1"/>
          <p:nvPr/>
        </p:nvSpPr>
        <p:spPr>
          <a:xfrm>
            <a:off x="208547" y="320842"/>
            <a:ext cx="6593306" cy="646331"/>
          </a:xfrm>
          <a:prstGeom prst="rect">
            <a:avLst/>
          </a:prstGeom>
          <a:noFill/>
        </p:spPr>
        <p:txBody>
          <a:bodyPr wrap="square" rtlCol="0">
            <a:spAutoFit/>
          </a:bodyPr>
          <a:lstStyle/>
          <a:p>
            <a:r>
              <a:rPr lang="en-IN" sz="3600" b="1" dirty="0" err="1">
                <a:solidFill>
                  <a:srgbClr val="FF0000"/>
                </a:solidFill>
              </a:rPr>
              <a:t>CuZr</a:t>
            </a:r>
            <a:endParaRPr lang="en-IN" sz="3600" b="1" dirty="0">
              <a:solidFill>
                <a:srgbClr val="FF0000"/>
              </a:solidFill>
            </a:endParaRPr>
          </a:p>
        </p:txBody>
      </p:sp>
      <p:sp>
        <p:nvSpPr>
          <p:cNvPr id="11" name="TextBox 10">
            <a:extLst>
              <a:ext uri="{FF2B5EF4-FFF2-40B4-BE49-F238E27FC236}">
                <a16:creationId xmlns:a16="http://schemas.microsoft.com/office/drawing/2014/main" id="{CDE7ED48-E15F-A304-C7F5-1B9D9D547A7F}"/>
              </a:ext>
            </a:extLst>
          </p:cNvPr>
          <p:cNvSpPr txBox="1"/>
          <p:nvPr/>
        </p:nvSpPr>
        <p:spPr>
          <a:xfrm>
            <a:off x="208547" y="1935169"/>
            <a:ext cx="6420853" cy="4985980"/>
          </a:xfrm>
          <a:prstGeom prst="rect">
            <a:avLst/>
          </a:prstGeom>
          <a:noFill/>
        </p:spPr>
        <p:txBody>
          <a:bodyPr wrap="square">
            <a:spAutoFit/>
          </a:bodyPr>
          <a:lstStyle/>
          <a:p>
            <a:r>
              <a:rPr lang="en-US" sz="2000" dirty="0" err="1">
                <a:latin typeface="+mj-lt"/>
              </a:rPr>
              <a:t>CuZr</a:t>
            </a:r>
            <a:r>
              <a:rPr lang="en-US" sz="2000" dirty="0">
                <a:latin typeface="+mj-lt"/>
              </a:rPr>
              <a:t> (Copper-Zirconium Alloy) is an intermetallic compound or metallic glass-forming alloy composed primarily of copper (Cu) and zirconium (Zr). It is widely studied for its excellent mechanical strength, high glass-forming ability, and good corrosion resistance.</a:t>
            </a:r>
          </a:p>
          <a:p>
            <a:endParaRPr lang="en-US" sz="2000" dirty="0">
              <a:latin typeface="+mj-lt"/>
            </a:endParaRPr>
          </a:p>
          <a:p>
            <a:r>
              <a:rPr lang="en-US" sz="2400" b="1" dirty="0">
                <a:solidFill>
                  <a:schemeClr val="accent1"/>
                </a:solidFill>
                <a:latin typeface="+mj-lt"/>
              </a:rPr>
              <a:t>Properties:</a:t>
            </a:r>
          </a:p>
          <a:p>
            <a:pPr marL="285750" indent="-285750">
              <a:buFont typeface="Wingdings" panose="05000000000000000000" pitchFamily="2" charset="2"/>
              <a:buChar char="Ø"/>
            </a:pPr>
            <a:r>
              <a:rPr lang="en-IN" sz="1800" dirty="0">
                <a:latin typeface="+mj-lt"/>
              </a:rPr>
              <a:t>Mechanical Strength (</a:t>
            </a:r>
            <a:r>
              <a:rPr lang="en-US" sz="1400" dirty="0"/>
              <a:t>Tensile Strength: </a:t>
            </a:r>
            <a:r>
              <a:rPr lang="en-US" sz="1400" b="1" dirty="0"/>
              <a:t>480–560 </a:t>
            </a:r>
            <a:r>
              <a:rPr lang="en-US" sz="1400" b="1" dirty="0" err="1"/>
              <a:t>Mpa</a:t>
            </a:r>
            <a:r>
              <a:rPr lang="en-US" sz="1200" b="1" dirty="0"/>
              <a:t>)</a:t>
            </a:r>
            <a:endParaRPr lang="en-IN" sz="1200" dirty="0">
              <a:latin typeface="+mj-lt"/>
            </a:endParaRPr>
          </a:p>
          <a:p>
            <a:pPr marL="285750" indent="-285750">
              <a:buFont typeface="Wingdings" panose="05000000000000000000" pitchFamily="2" charset="2"/>
              <a:buChar char="Ø"/>
            </a:pPr>
            <a:r>
              <a:rPr lang="en-IN" sz="1800" dirty="0">
                <a:latin typeface="+mj-lt"/>
              </a:rPr>
              <a:t>Elasticity (</a:t>
            </a:r>
            <a:r>
              <a:rPr lang="en-IN" sz="1400" dirty="0"/>
              <a:t>136 </a:t>
            </a:r>
            <a:r>
              <a:rPr lang="en-IN" sz="1400" dirty="0" err="1"/>
              <a:t>Gpa</a:t>
            </a:r>
            <a:r>
              <a:rPr lang="en-IN" dirty="0"/>
              <a:t>)</a:t>
            </a:r>
            <a:endParaRPr lang="en-IN" dirty="0">
              <a:latin typeface="+mj-lt"/>
            </a:endParaRPr>
          </a:p>
          <a:p>
            <a:pPr marL="285750" indent="-285750">
              <a:buFont typeface="Wingdings" panose="05000000000000000000" pitchFamily="2" charset="2"/>
              <a:buChar char="Ø"/>
            </a:pPr>
            <a:r>
              <a:rPr lang="en-IN" sz="1800" dirty="0">
                <a:latin typeface="+mj-lt"/>
              </a:rPr>
              <a:t>Thermal Stability (</a:t>
            </a:r>
            <a:r>
              <a:rPr lang="en-IN" sz="1400" dirty="0"/>
              <a:t>1081°C</a:t>
            </a:r>
            <a:r>
              <a:rPr lang="en-IN" dirty="0"/>
              <a:t>)</a:t>
            </a:r>
            <a:endParaRPr lang="en-IN" sz="1800" dirty="0">
              <a:latin typeface="+mj-lt"/>
            </a:endParaRPr>
          </a:p>
          <a:p>
            <a:pPr marL="285750" indent="-285750">
              <a:buFont typeface="Wingdings" panose="05000000000000000000" pitchFamily="2" charset="2"/>
              <a:buChar char="Ø"/>
            </a:pPr>
            <a:r>
              <a:rPr lang="en-IN" sz="1800" dirty="0">
                <a:latin typeface="+mj-lt"/>
              </a:rPr>
              <a:t>Corrosion Resistance(</a:t>
            </a:r>
            <a:r>
              <a:rPr lang="en-US" sz="1400" dirty="0"/>
              <a:t>Good corrosion and wear resistance</a:t>
            </a:r>
            <a:r>
              <a:rPr lang="en-US" dirty="0"/>
              <a:t>)</a:t>
            </a:r>
            <a:endParaRPr lang="en-IN" sz="1800" dirty="0">
              <a:latin typeface="+mj-lt"/>
            </a:endParaRPr>
          </a:p>
          <a:p>
            <a:pPr marL="285750" indent="-285750">
              <a:buFont typeface="Wingdings" panose="05000000000000000000" pitchFamily="2" charset="2"/>
              <a:buChar char="Ø"/>
            </a:pPr>
            <a:r>
              <a:rPr lang="en-IN" sz="1800" dirty="0">
                <a:latin typeface="+mj-lt"/>
              </a:rPr>
              <a:t>Electrical Conductivity (</a:t>
            </a:r>
            <a:r>
              <a:rPr lang="en-IN" sz="1400" dirty="0"/>
              <a:t>50–86% IACS</a:t>
            </a:r>
            <a:r>
              <a:rPr lang="en-IN" dirty="0"/>
              <a:t>)</a:t>
            </a:r>
            <a:endParaRPr lang="en-IN" sz="1800" dirty="0">
              <a:latin typeface="+mj-lt"/>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23983E76-6702-2853-5849-4C610DABD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5310" y="2819400"/>
            <a:ext cx="4724400" cy="3812189"/>
          </a:xfrm>
          <a:prstGeom prst="rect">
            <a:avLst/>
          </a:prstGeom>
        </p:spPr>
      </p:pic>
      <p:pic>
        <p:nvPicPr>
          <p:cNvPr id="3" name="Picture 4" descr="Zirconium - an overview | ScienceDirect Topics">
            <a:extLst>
              <a:ext uri="{FF2B5EF4-FFF2-40B4-BE49-F238E27FC236}">
                <a16:creationId xmlns:a16="http://schemas.microsoft.com/office/drawing/2014/main" id="{2CAFE9AA-846A-1BD4-2C7E-C03BA5EA2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3473" y="967173"/>
            <a:ext cx="4128740" cy="1910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366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56677-B127-C4CC-649B-80F1E34A91DD}"/>
              </a:ext>
            </a:extLst>
          </p:cNvPr>
          <p:cNvSpPr>
            <a:spLocks noGrp="1"/>
          </p:cNvSpPr>
          <p:nvPr>
            <p:ph type="title"/>
          </p:nvPr>
        </p:nvSpPr>
        <p:spPr>
          <a:xfrm>
            <a:off x="304800" y="143689"/>
            <a:ext cx="10515600" cy="721519"/>
          </a:xfrm>
        </p:spPr>
        <p:txBody>
          <a:bodyPr>
            <a:normAutofit/>
          </a:bodyPr>
          <a:lstStyle/>
          <a:p>
            <a:r>
              <a:rPr lang="en-US" dirty="0">
                <a:latin typeface="Instrument Sans Semi Bold" pitchFamily="34" charset="0"/>
                <a:ea typeface="Instrument Sans Semi Bold" pitchFamily="34" charset="-122"/>
                <a:cs typeface="Instrument Sans Semi Bold" pitchFamily="34" charset="-120"/>
              </a:rPr>
              <a:t>Applications of Copper Zirconium(</a:t>
            </a:r>
            <a:r>
              <a:rPr lang="en-US" dirty="0" err="1">
                <a:latin typeface="Instrument Sans Semi Bold" pitchFamily="34" charset="0"/>
                <a:ea typeface="Instrument Sans Semi Bold" pitchFamily="34" charset="-122"/>
                <a:cs typeface="Instrument Sans Semi Bold" pitchFamily="34" charset="-120"/>
              </a:rPr>
              <a:t>CuZr</a:t>
            </a:r>
            <a:r>
              <a:rPr lang="en-US" dirty="0">
                <a:latin typeface="Instrument Sans Semi Bold" pitchFamily="34" charset="0"/>
                <a:ea typeface="Instrument Sans Semi Bold" pitchFamily="34" charset="-122"/>
                <a:cs typeface="Instrument Sans Semi Bold" pitchFamily="34" charset="-120"/>
              </a:rPr>
              <a:t>):- </a:t>
            </a:r>
            <a:endParaRPr lang="en-IN" dirty="0"/>
          </a:p>
        </p:txBody>
      </p:sp>
      <p:sp>
        <p:nvSpPr>
          <p:cNvPr id="11" name="Title 1">
            <a:extLst>
              <a:ext uri="{FF2B5EF4-FFF2-40B4-BE49-F238E27FC236}">
                <a16:creationId xmlns:a16="http://schemas.microsoft.com/office/drawing/2014/main" id="{FDB5FD05-278F-72F6-5E5D-0F44DDCFA828}"/>
              </a:ext>
            </a:extLst>
          </p:cNvPr>
          <p:cNvSpPr txBox="1">
            <a:spLocks/>
          </p:cNvSpPr>
          <p:nvPr/>
        </p:nvSpPr>
        <p:spPr>
          <a:xfrm>
            <a:off x="584865" y="4114800"/>
            <a:ext cx="6318984" cy="3482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t>Contacts and connectors</a:t>
            </a:r>
            <a:endParaRPr lang="en-IN" sz="2400" b="1" i="1" dirty="0"/>
          </a:p>
        </p:txBody>
      </p:sp>
      <p:sp>
        <p:nvSpPr>
          <p:cNvPr id="13" name="Title 11">
            <a:extLst>
              <a:ext uri="{FF2B5EF4-FFF2-40B4-BE49-F238E27FC236}">
                <a16:creationId xmlns:a16="http://schemas.microsoft.com/office/drawing/2014/main" id="{19ABDAB5-8051-DCB9-7681-2EF088551C65}"/>
              </a:ext>
            </a:extLst>
          </p:cNvPr>
          <p:cNvSpPr txBox="1">
            <a:spLocks/>
          </p:cNvSpPr>
          <p:nvPr/>
        </p:nvSpPr>
        <p:spPr>
          <a:xfrm>
            <a:off x="7696200" y="4724400"/>
            <a:ext cx="3932237" cy="71184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i="1" dirty="0"/>
              <a:t>Shape Memory Alloys</a:t>
            </a:r>
            <a:br>
              <a:rPr lang="en-IN" b="1" i="1" dirty="0"/>
            </a:br>
            <a:endParaRPr lang="en-IN" b="1" i="1" dirty="0"/>
          </a:p>
        </p:txBody>
      </p:sp>
      <p:pic>
        <p:nvPicPr>
          <p:cNvPr id="2052" name="Picture 4" descr="Copper Electrical Contacts Copper Connectors - A1 Metallics">
            <a:extLst>
              <a:ext uri="{FF2B5EF4-FFF2-40B4-BE49-F238E27FC236}">
                <a16:creationId xmlns:a16="http://schemas.microsoft.com/office/drawing/2014/main" id="{E1B75A9B-AEF3-5B1E-2040-EA3BE16874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756" y="1352536"/>
            <a:ext cx="4648200" cy="22700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The high potential of shape memory alloys in developing miniature  mechanical devices: A review on shape memory alloy mini-actuators -  ScienceDirect">
            <a:extLst>
              <a:ext uri="{FF2B5EF4-FFF2-40B4-BE49-F238E27FC236}">
                <a16:creationId xmlns:a16="http://schemas.microsoft.com/office/drawing/2014/main" id="{A44E9ECD-2A54-9957-3515-2CC54A4CC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844943"/>
            <a:ext cx="3733800" cy="349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23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3F013-4C64-BBB3-A2C3-6671FF733BF3}"/>
              </a:ext>
            </a:extLst>
          </p:cNvPr>
          <p:cNvSpPr>
            <a:spLocks noGrp="1"/>
          </p:cNvSpPr>
          <p:nvPr>
            <p:ph type="title"/>
          </p:nvPr>
        </p:nvSpPr>
        <p:spPr>
          <a:xfrm>
            <a:off x="509905" y="228600"/>
            <a:ext cx="11485880" cy="492443"/>
          </a:xfrm>
        </p:spPr>
        <p:txBody>
          <a:bodyPr/>
          <a:lstStyle/>
          <a:p>
            <a:r>
              <a:rPr lang="en-IN" dirty="0"/>
              <a:t>Why study </a:t>
            </a:r>
            <a:r>
              <a:rPr lang="en-IN" dirty="0" err="1"/>
              <a:t>CuZr</a:t>
            </a:r>
            <a:r>
              <a:rPr lang="en-IN" dirty="0"/>
              <a:t> PE? </a:t>
            </a:r>
          </a:p>
        </p:txBody>
      </p:sp>
      <p:sp>
        <p:nvSpPr>
          <p:cNvPr id="3" name="Content Placeholder 2">
            <a:extLst>
              <a:ext uri="{FF2B5EF4-FFF2-40B4-BE49-F238E27FC236}">
                <a16:creationId xmlns:a16="http://schemas.microsoft.com/office/drawing/2014/main" id="{BA6E3FE0-6D53-DA90-23DA-774A42EBC853}"/>
              </a:ext>
            </a:extLst>
          </p:cNvPr>
          <p:cNvSpPr>
            <a:spLocks noGrp="1"/>
          </p:cNvSpPr>
          <p:nvPr>
            <p:ph sz="half" idx="1"/>
          </p:nvPr>
        </p:nvSpPr>
        <p:spPr>
          <a:xfrm>
            <a:off x="152400" y="1066800"/>
            <a:ext cx="11049000" cy="3693319"/>
          </a:xfrm>
        </p:spPr>
        <p:txBody>
          <a:bodyPr/>
          <a:lstStyle/>
          <a:p>
            <a:pPr marL="342900" indent="-342900">
              <a:buFont typeface="Wingdings" panose="05000000000000000000" pitchFamily="2" charset="2"/>
              <a:buChar char="Ø"/>
            </a:pPr>
            <a:r>
              <a:rPr lang="en-US" dirty="0">
                <a:solidFill>
                  <a:schemeClr val="tx1"/>
                </a:solidFill>
              </a:rPr>
              <a:t>To understand and design superior metallic glasses (Bulk Metallic Glasses).</a:t>
            </a:r>
          </a:p>
          <a:p>
            <a:endParaRPr lang="en-US" dirty="0">
              <a:solidFill>
                <a:schemeClr val="tx1"/>
              </a:solidFill>
            </a:endParaRPr>
          </a:p>
          <a:p>
            <a:pPr marL="342900" indent="-342900">
              <a:buFont typeface="Wingdings" panose="05000000000000000000" pitchFamily="2" charset="2"/>
              <a:buChar char="Ø"/>
            </a:pPr>
            <a:r>
              <a:rPr lang="en-US" dirty="0">
                <a:solidFill>
                  <a:schemeClr val="tx1"/>
                </a:solidFill>
              </a:rPr>
              <a:t>To predict key material properties like stability and mechanical behavior.</a:t>
            </a:r>
          </a:p>
          <a:p>
            <a:endParaRPr lang="en-US" dirty="0">
              <a:solidFill>
                <a:schemeClr val="tx1"/>
              </a:solidFill>
            </a:endParaRPr>
          </a:p>
          <a:p>
            <a:pPr marL="342900" indent="-342900">
              <a:buFont typeface="Wingdings" panose="05000000000000000000" pitchFamily="2" charset="2"/>
              <a:buChar char="Ø"/>
            </a:pPr>
            <a:r>
              <a:rPr lang="en-US" dirty="0">
                <a:solidFill>
                  <a:schemeClr val="tx1"/>
                </a:solidFill>
              </a:rPr>
              <a:t>To develop and validate accurate interatomic potentials for simulations.</a:t>
            </a:r>
          </a:p>
          <a:p>
            <a:endParaRPr lang="en-US" dirty="0">
              <a:solidFill>
                <a:schemeClr val="tx1"/>
              </a:solidFill>
            </a:endParaRPr>
          </a:p>
          <a:p>
            <a:pPr marL="342900" indent="-342900">
              <a:buFont typeface="Wingdings" panose="05000000000000000000" pitchFamily="2" charset="2"/>
              <a:buChar char="Ø"/>
            </a:pPr>
            <a:r>
              <a:rPr lang="en-US" dirty="0">
                <a:solidFill>
                  <a:schemeClr val="tx1"/>
                </a:solidFill>
              </a:rPr>
              <a:t>To guide the design of new alloys with tailored compositions and properties.</a:t>
            </a:r>
          </a:p>
          <a:p>
            <a:endParaRPr lang="en-US" dirty="0">
              <a:solidFill>
                <a:schemeClr val="tx1"/>
              </a:solidFill>
            </a:endParaRPr>
          </a:p>
          <a:p>
            <a:pPr marL="342900" indent="-342900">
              <a:buFont typeface="Wingdings" panose="05000000000000000000" pitchFamily="2" charset="2"/>
              <a:buChar char="Ø"/>
            </a:pPr>
            <a:r>
              <a:rPr lang="en-US" dirty="0">
                <a:solidFill>
                  <a:schemeClr val="tx1"/>
                </a:solidFill>
              </a:rPr>
              <a:t>To explain unusual properties like high strength and superplastic forming.</a:t>
            </a:r>
          </a:p>
          <a:p>
            <a:endParaRPr lang="en-IN" dirty="0"/>
          </a:p>
        </p:txBody>
      </p:sp>
    </p:spTree>
    <p:extLst>
      <p:ext uri="{BB962C8B-B14F-4D97-AF65-F5344CB8AC3E}">
        <p14:creationId xmlns:p14="http://schemas.microsoft.com/office/powerpoint/2010/main" val="391167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16DDD402-59C9-A163-52AC-E0E33896BDC2}"/>
              </a:ext>
            </a:extLst>
          </p:cNvPr>
          <p:cNvSpPr txBox="1">
            <a:spLocks/>
          </p:cNvSpPr>
          <p:nvPr/>
        </p:nvSpPr>
        <p:spPr>
          <a:xfrm>
            <a:off x="11828460" y="6447367"/>
            <a:ext cx="33655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24766C8-FE37-C242-AED9-A550D3C7D878}" type="slidenum">
              <a:rPr lang="en-US" sz="1800" b="1" smtClean="0">
                <a:solidFill>
                  <a:srgbClr val="691450"/>
                </a:solidFill>
              </a:rPr>
              <a:pPr algn="ctr"/>
              <a:t>5</a:t>
            </a:fld>
            <a:endParaRPr lang="en-US" sz="1800" b="1" dirty="0">
              <a:solidFill>
                <a:srgbClr val="691450"/>
              </a:solidFill>
            </a:endParaRPr>
          </a:p>
        </p:txBody>
      </p:sp>
      <p:cxnSp>
        <p:nvCxnSpPr>
          <p:cNvPr id="26" name="Straight Connector 25">
            <a:extLst>
              <a:ext uri="{FF2B5EF4-FFF2-40B4-BE49-F238E27FC236}">
                <a16:creationId xmlns:a16="http://schemas.microsoft.com/office/drawing/2014/main" id="{9DD26106-E703-E0E5-B77D-4BACD4ECD0A5}"/>
              </a:ext>
            </a:extLst>
          </p:cNvPr>
          <p:cNvCxnSpPr>
            <a:cxnSpLocks/>
          </p:cNvCxnSpPr>
          <p:nvPr/>
        </p:nvCxnSpPr>
        <p:spPr>
          <a:xfrm>
            <a:off x="-11077"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4" name="Rectangle 8">
            <a:extLst>
              <a:ext uri="{FF2B5EF4-FFF2-40B4-BE49-F238E27FC236}">
                <a16:creationId xmlns:a16="http://schemas.microsoft.com/office/drawing/2014/main" id="{CECF94C6-4AF3-2D23-26BC-CFAF2C26FD1A}"/>
              </a:ext>
            </a:extLst>
          </p:cNvPr>
          <p:cNvSpPr/>
          <p:nvPr/>
        </p:nvSpPr>
        <p:spPr>
          <a:xfrm>
            <a:off x="139959" y="335880"/>
            <a:ext cx="2769445" cy="923330"/>
          </a:xfrm>
          <a:custGeom>
            <a:avLst/>
            <a:gdLst>
              <a:gd name="connsiteX0" fmla="*/ 0 w 4070290"/>
              <a:gd name="connsiteY0" fmla="*/ 0 h 1200329"/>
              <a:gd name="connsiteX1" fmla="*/ 4070290 w 4070290"/>
              <a:gd name="connsiteY1" fmla="*/ 0 h 1200329"/>
              <a:gd name="connsiteX2" fmla="*/ 4070290 w 4070290"/>
              <a:gd name="connsiteY2" fmla="*/ 1200329 h 1200329"/>
              <a:gd name="connsiteX3" fmla="*/ 0 w 4070290"/>
              <a:gd name="connsiteY3" fmla="*/ 1200329 h 1200329"/>
              <a:gd name="connsiteX4" fmla="*/ 0 w 4070290"/>
              <a:gd name="connsiteY4" fmla="*/ 0 h 1200329"/>
              <a:gd name="connsiteX0" fmla="*/ 13647 w 4083937"/>
              <a:gd name="connsiteY0" fmla="*/ 0 h 1200329"/>
              <a:gd name="connsiteX1" fmla="*/ 4083937 w 4083937"/>
              <a:gd name="connsiteY1" fmla="*/ 0 h 1200329"/>
              <a:gd name="connsiteX2" fmla="*/ 4083937 w 4083937"/>
              <a:gd name="connsiteY2" fmla="*/ 1200329 h 1200329"/>
              <a:gd name="connsiteX3" fmla="*/ 0 w 4083937"/>
              <a:gd name="connsiteY3" fmla="*/ 954670 h 1200329"/>
              <a:gd name="connsiteX4" fmla="*/ 13647 w 4083937"/>
              <a:gd name="connsiteY4" fmla="*/ 0 h 1200329"/>
              <a:gd name="connsiteX0" fmla="*/ 13647 w 4097585"/>
              <a:gd name="connsiteY0" fmla="*/ 0 h 954670"/>
              <a:gd name="connsiteX1" fmla="*/ 4083937 w 4097585"/>
              <a:gd name="connsiteY1" fmla="*/ 0 h 954670"/>
              <a:gd name="connsiteX2" fmla="*/ 4097585 w 4097585"/>
              <a:gd name="connsiteY2" fmla="*/ 941021 h 954670"/>
              <a:gd name="connsiteX3" fmla="*/ 0 w 4097585"/>
              <a:gd name="connsiteY3" fmla="*/ 954670 h 954670"/>
              <a:gd name="connsiteX4" fmla="*/ 13647 w 4097585"/>
              <a:gd name="connsiteY4" fmla="*/ 0 h 954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7585" h="954670">
                <a:moveTo>
                  <a:pt x="13647" y="0"/>
                </a:moveTo>
                <a:lnTo>
                  <a:pt x="4083937" y="0"/>
                </a:lnTo>
                <a:lnTo>
                  <a:pt x="4097585" y="941021"/>
                </a:lnTo>
                <a:lnTo>
                  <a:pt x="0" y="954670"/>
                </a:lnTo>
                <a:lnTo>
                  <a:pt x="13647" y="0"/>
                </a:lnTo>
                <a:close/>
              </a:path>
            </a:pathLst>
          </a:custGeom>
          <a:ln>
            <a:noFill/>
          </a:ln>
        </p:spPr>
        <p:txBody>
          <a:bodyPr wrap="square">
            <a:spAutoFit/>
          </a:bodyPr>
          <a:lstStyle/>
          <a:p>
            <a:pPr algn="ctr"/>
            <a:r>
              <a:rPr lang="en-US" altLang="en-US" sz="3600" b="1" dirty="0">
                <a:solidFill>
                  <a:srgbClr val="FF0000"/>
                </a:solidFill>
                <a:latin typeface="Times New Roman" panose="02020603050405020304" pitchFamily="18" charset="0"/>
                <a:cs typeface="Times New Roman" panose="02020603050405020304" pitchFamily="18" charset="0"/>
              </a:rPr>
              <a:t>Motivation </a:t>
            </a:r>
            <a:endParaRPr lang="en-US" altLang="en-US" sz="3600" b="1"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endParaRPr>
          </a:p>
        </p:txBody>
      </p:sp>
      <p:sp>
        <p:nvSpPr>
          <p:cNvPr id="3" name="Rectangle 2">
            <a:extLst>
              <a:ext uri="{FF2B5EF4-FFF2-40B4-BE49-F238E27FC236}">
                <a16:creationId xmlns:a16="http://schemas.microsoft.com/office/drawing/2014/main" id="{A4360DAC-EED4-ED5D-B161-8FC19CEA4D94}"/>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C6530A-3F5D-065A-EAA4-AEF372F00C91}"/>
              </a:ext>
            </a:extLst>
          </p:cNvPr>
          <p:cNvSpPr txBox="1"/>
          <p:nvPr/>
        </p:nvSpPr>
        <p:spPr>
          <a:xfrm>
            <a:off x="1156996" y="1259209"/>
            <a:ext cx="9815804" cy="2554545"/>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Computational Expense</a:t>
            </a:r>
            <a:r>
              <a:rPr lang="en-US" sz="2000" dirty="0"/>
              <a:t>: </a:t>
            </a:r>
          </a:p>
          <a:p>
            <a:r>
              <a:rPr lang="en-US" sz="2000" dirty="0"/>
              <a:t>MD simulations demand huge computational resources, often taking thousands of CPU hours to model complex alloy systems.</a:t>
            </a:r>
          </a:p>
          <a:p>
            <a:endParaRPr lang="en-US" sz="2000" dirty="0"/>
          </a:p>
          <a:p>
            <a:pPr marL="342900" indent="-342900">
              <a:buFont typeface="Wingdings" panose="05000000000000000000" pitchFamily="2" charset="2"/>
              <a:buChar char="Ø"/>
            </a:pPr>
            <a:r>
              <a:rPr lang="en-US" sz="2000" b="1" dirty="0"/>
              <a:t>Why ML?</a:t>
            </a:r>
          </a:p>
          <a:p>
            <a:r>
              <a:rPr lang="en-US" sz="2000" dirty="0"/>
              <a:t>ML can learn from past simulation data and quickly capture non-linear relationships between composition, process conditions,  and material properties — enabling </a:t>
            </a:r>
            <a:r>
              <a:rPr lang="en-US" sz="2000" i="1" dirty="0"/>
              <a:t>faster predictions </a:t>
            </a:r>
            <a:r>
              <a:rPr lang="en-US" sz="2000" dirty="0"/>
              <a:t>and </a:t>
            </a:r>
            <a:r>
              <a:rPr lang="en-US" sz="2000" i="1" dirty="0"/>
              <a:t>accelerating the materials discovery process.</a:t>
            </a:r>
            <a:endParaRPr lang="en-IN" sz="2000" i="1" dirty="0"/>
          </a:p>
        </p:txBody>
      </p:sp>
    </p:spTree>
    <p:extLst>
      <p:ext uri="{BB962C8B-B14F-4D97-AF65-F5344CB8AC3E}">
        <p14:creationId xmlns:p14="http://schemas.microsoft.com/office/powerpoint/2010/main" val="100929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D63BC-724C-0A1B-C796-3004627688CF}"/>
              </a:ext>
            </a:extLst>
          </p:cNvPr>
          <p:cNvSpPr>
            <a:spLocks noGrp="1"/>
          </p:cNvSpPr>
          <p:nvPr>
            <p:ph type="title"/>
          </p:nvPr>
        </p:nvSpPr>
        <p:spPr/>
        <p:txBody>
          <a:bodyPr/>
          <a:lstStyle/>
          <a:p>
            <a:r>
              <a:rPr lang="en-US" b="1" dirty="0">
                <a:solidFill>
                  <a:srgbClr val="FF0000"/>
                </a:solidFill>
                <a:latin typeface="+mn-lt"/>
              </a:rPr>
              <a:t>Embedded Atom Potential</a:t>
            </a:r>
            <a:endParaRPr lang="en-IN" b="1" dirty="0">
              <a:solidFill>
                <a:srgbClr val="FF0000"/>
              </a:solidFill>
              <a:latin typeface="+mn-lt"/>
            </a:endParaRPr>
          </a:p>
        </p:txBody>
      </p:sp>
      <p:pic>
        <p:nvPicPr>
          <p:cNvPr id="8" name="Content Placeholder 7">
            <a:extLst>
              <a:ext uri="{FF2B5EF4-FFF2-40B4-BE49-F238E27FC236}">
                <a16:creationId xmlns:a16="http://schemas.microsoft.com/office/drawing/2014/main" id="{1C40D2EF-EC9F-D36A-8D11-87AC5B97AB8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56277" y="2016467"/>
            <a:ext cx="5157787" cy="1432198"/>
          </a:xfrm>
        </p:spPr>
      </p:pic>
      <p:sp>
        <p:nvSpPr>
          <p:cNvPr id="5" name="Text Placeholder 4">
            <a:extLst>
              <a:ext uri="{FF2B5EF4-FFF2-40B4-BE49-F238E27FC236}">
                <a16:creationId xmlns:a16="http://schemas.microsoft.com/office/drawing/2014/main" id="{9D6239F5-28A3-8EBE-3941-D86A0B32715B}"/>
              </a:ext>
            </a:extLst>
          </p:cNvPr>
          <p:cNvSpPr>
            <a:spLocks noGrp="1"/>
          </p:cNvSpPr>
          <p:nvPr>
            <p:ph type="body" sz="quarter" idx="3"/>
          </p:nvPr>
        </p:nvSpPr>
        <p:spPr/>
        <p:txBody>
          <a:bodyPr>
            <a:normAutofit/>
          </a:bodyPr>
          <a:lstStyle/>
          <a:p>
            <a:r>
              <a:rPr lang="en-US" dirty="0">
                <a:solidFill>
                  <a:schemeClr val="accent1"/>
                </a:solidFill>
              </a:rPr>
              <a:t>Why EAM Potentials Are Used</a:t>
            </a:r>
            <a:endParaRPr lang="en-IN" dirty="0">
              <a:solidFill>
                <a:schemeClr val="accent1"/>
              </a:solidFill>
            </a:endParaRPr>
          </a:p>
        </p:txBody>
      </p:sp>
      <p:sp>
        <p:nvSpPr>
          <p:cNvPr id="6" name="Content Placeholder 5">
            <a:extLst>
              <a:ext uri="{FF2B5EF4-FFF2-40B4-BE49-F238E27FC236}">
                <a16:creationId xmlns:a16="http://schemas.microsoft.com/office/drawing/2014/main" id="{C6ABCE36-48CF-CE1F-CCC9-72A9FCD6AD2A}"/>
              </a:ext>
            </a:extLst>
          </p:cNvPr>
          <p:cNvSpPr>
            <a:spLocks noGrp="1"/>
          </p:cNvSpPr>
          <p:nvPr>
            <p:ph sz="quarter" idx="4"/>
          </p:nvPr>
        </p:nvSpPr>
        <p:spPr>
          <a:xfrm>
            <a:off x="6629400" y="2667000"/>
            <a:ext cx="5183188" cy="3684588"/>
          </a:xfrm>
        </p:spPr>
        <p:txBody>
          <a:bodyPr>
            <a:normAutofit/>
          </a:bodyPr>
          <a:lstStyle/>
          <a:p>
            <a:r>
              <a:rPr lang="en-US" b="1" dirty="0">
                <a:solidFill>
                  <a:schemeClr val="tx2"/>
                </a:solidFill>
              </a:rPr>
              <a:t>Overcome Limitations of Simple Models</a:t>
            </a:r>
            <a:r>
              <a:rPr lang="en-US" dirty="0">
                <a:solidFill>
                  <a:schemeClr val="tx2"/>
                </a:solidFill>
              </a:rPr>
              <a:t>: </a:t>
            </a:r>
            <a:r>
              <a:rPr lang="en-US" sz="2000" dirty="0">
                <a:solidFill>
                  <a:schemeClr val="tx1"/>
                </a:solidFill>
              </a:rPr>
              <a:t>They address the limitation of bond strength independence found in simpler pair potentials.</a:t>
            </a:r>
          </a:p>
          <a:p>
            <a:r>
              <a:rPr lang="en-US" b="1" dirty="0">
                <a:solidFill>
                  <a:schemeClr val="tx2"/>
                </a:solidFill>
              </a:rPr>
              <a:t>Predict Material Properties</a:t>
            </a:r>
            <a:r>
              <a:rPr lang="en-US" dirty="0">
                <a:solidFill>
                  <a:schemeClr val="tx2"/>
                </a:solidFill>
              </a:rPr>
              <a:t>: </a:t>
            </a:r>
            <a:r>
              <a:rPr lang="en-US" sz="2000" dirty="0">
                <a:solidFill>
                  <a:schemeClr val="tx1"/>
                </a:solidFill>
              </a:rPr>
              <a:t>They allow for high-fidelity atomistic simulations to study properties like defects, mechanical behavior, melting, and thermal expansion. </a:t>
            </a:r>
          </a:p>
          <a:p>
            <a:endParaRPr lang="en-IN" dirty="0"/>
          </a:p>
        </p:txBody>
      </p:sp>
      <p:sp>
        <p:nvSpPr>
          <p:cNvPr id="11" name="Text Placeholder 2">
            <a:extLst>
              <a:ext uri="{FF2B5EF4-FFF2-40B4-BE49-F238E27FC236}">
                <a16:creationId xmlns:a16="http://schemas.microsoft.com/office/drawing/2014/main" id="{D90B5ED7-9A49-A293-763F-0D3CF7B4AD89}"/>
              </a:ext>
            </a:extLst>
          </p:cNvPr>
          <p:cNvSpPr txBox="1">
            <a:spLocks/>
          </p:cNvSpPr>
          <p:nvPr/>
        </p:nvSpPr>
        <p:spPr>
          <a:xfrm>
            <a:off x="2148436" y="3646646"/>
            <a:ext cx="1973782" cy="700723"/>
          </a:xfrm>
          <a:prstGeom prst="rect">
            <a:avLst/>
          </a:prstGeom>
        </p:spPr>
        <p:txBody>
          <a:bodyPr vert="horz" lIns="91440" tIns="45720" rIns="91440" bIns="45720" rtlCol="0" anchor="b">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latin typeface="+mj-lt"/>
              </a:rPr>
              <a:t>Electron Embedding energy</a:t>
            </a:r>
            <a:endParaRPr lang="en-IN" dirty="0">
              <a:latin typeface="+mj-lt"/>
            </a:endParaRPr>
          </a:p>
        </p:txBody>
      </p:sp>
      <p:sp>
        <p:nvSpPr>
          <p:cNvPr id="12" name="Text Placeholder 2">
            <a:extLst>
              <a:ext uri="{FF2B5EF4-FFF2-40B4-BE49-F238E27FC236}">
                <a16:creationId xmlns:a16="http://schemas.microsoft.com/office/drawing/2014/main" id="{CE417F84-BBEE-A511-CAF6-88A6C44B067A}"/>
              </a:ext>
            </a:extLst>
          </p:cNvPr>
          <p:cNvSpPr txBox="1">
            <a:spLocks/>
          </p:cNvSpPr>
          <p:nvPr/>
        </p:nvSpPr>
        <p:spPr>
          <a:xfrm>
            <a:off x="4122218" y="3517238"/>
            <a:ext cx="2079585" cy="821020"/>
          </a:xfrm>
          <a:prstGeom prst="rect">
            <a:avLst/>
          </a:prstGeom>
        </p:spPr>
        <p:txBody>
          <a:bodyPr vert="horz" lIns="91440" tIns="45720" rIns="91440" bIns="45720" rtlCol="0" anchor="b">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latin typeface="+mj-lt"/>
              </a:rPr>
              <a:t>Pair-wise</a:t>
            </a:r>
          </a:p>
          <a:p>
            <a:r>
              <a:rPr lang="en-US" dirty="0">
                <a:latin typeface="+mj-lt"/>
              </a:rPr>
              <a:t>Potential</a:t>
            </a:r>
            <a:endParaRPr lang="en-IN" dirty="0">
              <a:latin typeface="+mj-lt"/>
            </a:endParaRPr>
          </a:p>
        </p:txBody>
      </p:sp>
    </p:spTree>
    <p:extLst>
      <p:ext uri="{BB962C8B-B14F-4D97-AF65-F5344CB8AC3E}">
        <p14:creationId xmlns:p14="http://schemas.microsoft.com/office/powerpoint/2010/main" val="65043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C77B-4046-6CCD-84C2-972239CFFEA6}"/>
              </a:ext>
            </a:extLst>
          </p:cNvPr>
          <p:cNvSpPr>
            <a:spLocks noGrp="1"/>
          </p:cNvSpPr>
          <p:nvPr>
            <p:ph type="title"/>
          </p:nvPr>
        </p:nvSpPr>
        <p:spPr>
          <a:xfrm>
            <a:off x="838200" y="81024"/>
            <a:ext cx="10515600" cy="717630"/>
          </a:xfrm>
        </p:spPr>
        <p:txBody>
          <a:bodyPr/>
          <a:lstStyle/>
          <a:p>
            <a:r>
              <a:rPr lang="en-US" b="1" dirty="0">
                <a:solidFill>
                  <a:srgbClr val="FF0000"/>
                </a:solidFill>
                <a:latin typeface="+mn-lt"/>
              </a:rPr>
              <a:t>MD Simulation</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CDCE222B-7EC5-62E2-F78D-FC8E2240C385}"/>
              </a:ext>
            </a:extLst>
          </p:cNvPr>
          <p:cNvSpPr>
            <a:spLocks noGrp="1"/>
          </p:cNvSpPr>
          <p:nvPr>
            <p:ph idx="1"/>
          </p:nvPr>
        </p:nvSpPr>
        <p:spPr>
          <a:xfrm>
            <a:off x="152400" y="533400"/>
            <a:ext cx="11658600" cy="6096000"/>
          </a:xfrm>
        </p:spPr>
        <p:txBody>
          <a:bodyPr>
            <a:normAutofit/>
          </a:bodyPr>
          <a:lstStyle/>
          <a:p>
            <a:r>
              <a:rPr lang="en-US" dirty="0">
                <a:solidFill>
                  <a:schemeClr val="tx1"/>
                </a:solidFill>
              </a:rPr>
              <a:t>Molecular Dynamics (MD) simulation is a computational technique that models the motion of atoms and molecules over time by solving Newton’s equations of motion. It helps in understanding the microscopic behavior and predicting thermodynamic, structural, and mechanical properties of materials at the atomic level.</a:t>
            </a:r>
            <a:endParaRPr lang="en-IN" b="1" dirty="0">
              <a:solidFill>
                <a:schemeClr val="tx1"/>
              </a:solidFill>
            </a:endParaRPr>
          </a:p>
          <a:p>
            <a:pPr marL="342900" indent="-342900">
              <a:buFont typeface="Arial" panose="020B0604020202020204" pitchFamily="34" charset="0"/>
              <a:buChar char="•"/>
            </a:pPr>
            <a:endParaRPr lang="en-IN" b="1" dirty="0">
              <a:solidFill>
                <a:schemeClr val="tx1"/>
              </a:solidFill>
            </a:endParaRPr>
          </a:p>
          <a:p>
            <a:pPr marL="342900" indent="-342900">
              <a:buFont typeface="Wingdings" panose="05000000000000000000" pitchFamily="2" charset="2"/>
              <a:buChar char="Ø"/>
            </a:pPr>
            <a:r>
              <a:rPr lang="en-IN" b="1" dirty="0">
                <a:solidFill>
                  <a:schemeClr val="tx2"/>
                </a:solidFill>
              </a:rPr>
              <a:t>System Setup</a:t>
            </a:r>
          </a:p>
          <a:p>
            <a:pPr lvl="1"/>
            <a:r>
              <a:rPr lang="en-IN" b="1" dirty="0">
                <a:solidFill>
                  <a:schemeClr val="tx1"/>
                </a:solidFill>
              </a:rPr>
              <a:t>Material:</a:t>
            </a:r>
            <a:r>
              <a:rPr lang="en-IN" dirty="0">
                <a:solidFill>
                  <a:schemeClr val="tx1"/>
                </a:solidFill>
              </a:rPr>
              <a:t> Cu–Zr.</a:t>
            </a:r>
          </a:p>
          <a:p>
            <a:pPr lvl="1"/>
            <a:r>
              <a:rPr lang="en-IN" b="1" dirty="0">
                <a:solidFill>
                  <a:schemeClr val="tx1"/>
                </a:solidFill>
              </a:rPr>
              <a:t>Structure:</a:t>
            </a:r>
            <a:r>
              <a:rPr lang="en-IN" dirty="0">
                <a:solidFill>
                  <a:schemeClr val="tx1"/>
                </a:solidFill>
              </a:rPr>
              <a:t> FCC lattice.</a:t>
            </a:r>
          </a:p>
          <a:p>
            <a:pPr lvl="1"/>
            <a:r>
              <a:rPr lang="en-IN" b="1" dirty="0">
                <a:solidFill>
                  <a:schemeClr val="tx1"/>
                </a:solidFill>
              </a:rPr>
              <a:t>Atoms:</a:t>
            </a:r>
            <a:r>
              <a:rPr lang="en-IN" dirty="0">
                <a:solidFill>
                  <a:schemeClr val="tx1"/>
                </a:solidFill>
              </a:rPr>
              <a:t> 5k–50k.</a:t>
            </a:r>
          </a:p>
          <a:p>
            <a:pPr marL="342900" indent="-342900">
              <a:buFont typeface="Wingdings" panose="05000000000000000000" pitchFamily="2" charset="2"/>
              <a:buChar char="Ø"/>
            </a:pPr>
            <a:r>
              <a:rPr lang="en-IN" b="1" dirty="0">
                <a:solidFill>
                  <a:schemeClr val="tx2"/>
                </a:solidFill>
              </a:rPr>
              <a:t>Interatomic Potential</a:t>
            </a:r>
          </a:p>
          <a:p>
            <a:pPr lvl="1"/>
            <a:r>
              <a:rPr lang="en-IN" b="1" dirty="0">
                <a:solidFill>
                  <a:schemeClr val="tx1"/>
                </a:solidFill>
              </a:rPr>
              <a:t>EAM/alloy</a:t>
            </a:r>
            <a:r>
              <a:rPr lang="en-IN" dirty="0">
                <a:solidFill>
                  <a:schemeClr val="tx1"/>
                </a:solidFill>
              </a:rPr>
              <a:t> potential (</a:t>
            </a:r>
            <a:r>
              <a:rPr lang="en-IN" dirty="0" err="1">
                <a:solidFill>
                  <a:schemeClr val="tx1"/>
                </a:solidFill>
              </a:rPr>
              <a:t>CuZr.eam.alloy</a:t>
            </a:r>
            <a:r>
              <a:rPr lang="en-IN" dirty="0">
                <a:solidFill>
                  <a:schemeClr val="tx1"/>
                </a:solidFill>
              </a:rPr>
              <a:t>)</a:t>
            </a:r>
          </a:p>
          <a:p>
            <a:pPr marL="342900" indent="-342900">
              <a:buFont typeface="Wingdings" panose="05000000000000000000" pitchFamily="2" charset="2"/>
              <a:buChar char="Ø"/>
            </a:pPr>
            <a:r>
              <a:rPr lang="en-IN" b="1" dirty="0">
                <a:solidFill>
                  <a:schemeClr val="tx2"/>
                </a:solidFill>
              </a:rPr>
              <a:t>Simulation Procedure</a:t>
            </a:r>
          </a:p>
          <a:p>
            <a:pPr lvl="1"/>
            <a:r>
              <a:rPr lang="en-IN" b="1" dirty="0">
                <a:solidFill>
                  <a:schemeClr val="tx1"/>
                </a:solidFill>
              </a:rPr>
              <a:t>Initialization:</a:t>
            </a:r>
            <a:r>
              <a:rPr lang="en-IN" dirty="0">
                <a:solidFill>
                  <a:schemeClr val="tx1"/>
                </a:solidFill>
              </a:rPr>
              <a:t> Assign velocities at 300 K, zero net momentum</a:t>
            </a:r>
          </a:p>
          <a:p>
            <a:pPr lvl="1"/>
            <a:r>
              <a:rPr lang="en-IN" b="1" dirty="0">
                <a:solidFill>
                  <a:schemeClr val="tx1"/>
                </a:solidFill>
              </a:rPr>
              <a:t>Equilibration:</a:t>
            </a:r>
            <a:endParaRPr lang="en-IN" dirty="0">
              <a:solidFill>
                <a:schemeClr val="tx1"/>
              </a:solidFill>
            </a:endParaRPr>
          </a:p>
          <a:p>
            <a:pPr lvl="2"/>
            <a:r>
              <a:rPr lang="en-IN" dirty="0">
                <a:solidFill>
                  <a:schemeClr val="tx1"/>
                </a:solidFill>
              </a:rPr>
              <a:t>Short NVE relaxation :- stabilize system</a:t>
            </a:r>
          </a:p>
          <a:p>
            <a:pPr lvl="2"/>
            <a:r>
              <a:rPr lang="en-IN" dirty="0">
                <a:solidFill>
                  <a:schemeClr val="tx1"/>
                </a:solidFill>
              </a:rPr>
              <a:t>NPT at 300 K &amp; 0 bar :- equilibrate temperature, pressure, volume</a:t>
            </a:r>
          </a:p>
          <a:p>
            <a:pPr marL="342900" indent="-342900">
              <a:buFont typeface="Wingdings" panose="05000000000000000000" pitchFamily="2" charset="2"/>
              <a:buChar char="Ø"/>
            </a:pPr>
            <a:r>
              <a:rPr lang="en-IN" b="1" dirty="0">
                <a:solidFill>
                  <a:schemeClr val="tx2"/>
                </a:solidFill>
              </a:rPr>
              <a:t>Outputs</a:t>
            </a:r>
          </a:p>
          <a:p>
            <a:pPr lvl="1"/>
            <a:r>
              <a:rPr lang="en-IN" dirty="0">
                <a:solidFill>
                  <a:schemeClr val="tx1"/>
                </a:solidFill>
              </a:rPr>
              <a:t>Thermodynamic data :- </a:t>
            </a:r>
            <a:r>
              <a:rPr lang="en-IN" b="1" dirty="0">
                <a:solidFill>
                  <a:schemeClr val="tx1"/>
                </a:solidFill>
              </a:rPr>
              <a:t>PE, KE, Temp, Vol, Press, E</a:t>
            </a:r>
            <a:endParaRPr lang="en-IN" dirty="0">
              <a:solidFill>
                <a:schemeClr val="tx1"/>
              </a:solidFill>
            </a:endParaRPr>
          </a:p>
          <a:p>
            <a:pPr lvl="1"/>
            <a:r>
              <a:rPr lang="en-IN" dirty="0">
                <a:solidFill>
                  <a:schemeClr val="tx1"/>
                </a:solidFill>
              </a:rPr>
              <a:t>Used for machine learning prediction of potential energy and thermal properties</a:t>
            </a:r>
          </a:p>
          <a:p>
            <a:endParaRPr lang="en-IN" dirty="0"/>
          </a:p>
        </p:txBody>
      </p:sp>
    </p:spTree>
    <p:extLst>
      <p:ext uri="{BB962C8B-B14F-4D97-AF65-F5344CB8AC3E}">
        <p14:creationId xmlns:p14="http://schemas.microsoft.com/office/powerpoint/2010/main" val="3540864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7038" y="1182758"/>
            <a:ext cx="6437412" cy="516732"/>
          </a:xfrm>
          <a:prstGeom prst="rect">
            <a:avLst/>
          </a:prstGeom>
          <a:noFill/>
          <a:ln/>
        </p:spPr>
        <p:txBody>
          <a:bodyPr wrap="none" lIns="0" tIns="0" rIns="0" bIns="0" rtlCol="0" anchor="t"/>
          <a:lstStyle/>
          <a:p>
            <a:pPr>
              <a:lnSpc>
                <a:spcPts val="4042"/>
              </a:lnSpc>
            </a:pPr>
            <a:r>
              <a:rPr lang="en-US" sz="4000" b="1" dirty="0">
                <a:solidFill>
                  <a:srgbClr val="FF0000"/>
                </a:solidFill>
                <a:latin typeface="Instrument Sans Semi Bold" pitchFamily="34" charset="0"/>
                <a:ea typeface="Instrument Sans Semi Bold" pitchFamily="34" charset="-122"/>
                <a:cs typeface="Instrument Sans Semi Bold" pitchFamily="34" charset="-120"/>
              </a:rPr>
              <a:t>Train-Test Split</a:t>
            </a:r>
            <a:endParaRPr lang="en-US" sz="4000" b="1" dirty="0">
              <a:solidFill>
                <a:srgbClr val="FF0000"/>
              </a:solidFill>
            </a:endParaRPr>
          </a:p>
        </p:txBody>
      </p:sp>
      <p:sp>
        <p:nvSpPr>
          <p:cNvPr id="3" name="Text 1"/>
          <p:cNvSpPr/>
          <p:nvPr/>
        </p:nvSpPr>
        <p:spPr>
          <a:xfrm>
            <a:off x="661492" y="1890911"/>
            <a:ext cx="3200797" cy="310058"/>
          </a:xfrm>
          <a:prstGeom prst="rect">
            <a:avLst/>
          </a:prstGeom>
          <a:noFill/>
          <a:ln/>
        </p:spPr>
        <p:txBody>
          <a:bodyPr wrap="none" lIns="0" tIns="0" rIns="0" bIns="0" rtlCol="0" anchor="t"/>
          <a:lstStyle/>
          <a:p>
            <a:pPr>
              <a:lnSpc>
                <a:spcPts val="2417"/>
              </a:lnSpc>
            </a:pPr>
            <a:endParaRPr lang="en-US" sz="1917" dirty="0">
              <a:solidFill>
                <a:schemeClr val="tx1">
                  <a:lumMod val="95000"/>
                  <a:lumOff val="5000"/>
                </a:schemeClr>
              </a:solidFill>
            </a:endParaRPr>
          </a:p>
        </p:txBody>
      </p:sp>
      <p:sp>
        <p:nvSpPr>
          <p:cNvPr id="4" name="Text 2"/>
          <p:cNvSpPr/>
          <p:nvPr/>
        </p:nvSpPr>
        <p:spPr>
          <a:xfrm>
            <a:off x="381001" y="2200969"/>
            <a:ext cx="6626887" cy="1135131"/>
          </a:xfrm>
          <a:prstGeom prst="rect">
            <a:avLst/>
          </a:prstGeom>
          <a:noFill/>
          <a:ln/>
        </p:spPr>
        <p:txBody>
          <a:bodyPr wrap="square" lIns="0" tIns="0" rIns="0" bIns="0" rtlCol="0" anchor="t"/>
          <a:lstStyle/>
          <a:p>
            <a:pPr>
              <a:lnSpc>
                <a:spcPts val="2083"/>
              </a:lnSpc>
            </a:pPr>
            <a:r>
              <a:rPr lang="en-US" sz="2000" dirty="0">
                <a:solidFill>
                  <a:schemeClr val="tx1">
                    <a:lumMod val="95000"/>
                    <a:lumOff val="5000"/>
                  </a:schemeClr>
                </a:solidFill>
                <a:latin typeface="+mn-lt"/>
                <a:ea typeface="Instrument Sans Medium" pitchFamily="34" charset="-122"/>
                <a:cs typeface="Instrument Sans Medium" pitchFamily="34" charset="-120"/>
              </a:rPr>
              <a:t>We partition the dataset into two distinct subsets using random sampling without replacement. This ensures the model is evaluated on data it has never seen during training.</a:t>
            </a:r>
            <a:endParaRPr lang="en-US" sz="2000" dirty="0">
              <a:solidFill>
                <a:schemeClr val="tx1">
                  <a:lumMod val="95000"/>
                  <a:lumOff val="5000"/>
                </a:schemeClr>
              </a:solidFill>
              <a:latin typeface="+mn-lt"/>
            </a:endParaRPr>
          </a:p>
        </p:txBody>
      </p:sp>
      <p:sp>
        <p:nvSpPr>
          <p:cNvPr id="5" name="Text 3"/>
          <p:cNvSpPr/>
          <p:nvPr/>
        </p:nvSpPr>
        <p:spPr>
          <a:xfrm>
            <a:off x="167780" y="3902048"/>
            <a:ext cx="7117159" cy="847389"/>
          </a:xfrm>
          <a:prstGeom prst="rect">
            <a:avLst/>
          </a:prstGeom>
          <a:noFill/>
          <a:ln/>
        </p:spPr>
        <p:txBody>
          <a:bodyPr wrap="none" lIns="0" tIns="0" rIns="0" bIns="0" rtlCol="0" anchor="t"/>
          <a:lstStyle/>
          <a:p>
            <a:pPr marL="285739" indent="-285739">
              <a:lnSpc>
                <a:spcPts val="2083"/>
              </a:lnSpc>
              <a:buSzPct val="100000"/>
              <a:buChar char="•"/>
            </a:pPr>
            <a:r>
              <a:rPr lang="en-US" sz="2000" b="1" dirty="0">
                <a:solidFill>
                  <a:srgbClr val="0070C0"/>
                </a:solidFill>
                <a:latin typeface="+mn-lt"/>
                <a:ea typeface="Instrument Sans Medium" pitchFamily="34" charset="-122"/>
                <a:cs typeface="Instrument Sans Medium" pitchFamily="34" charset="-120"/>
              </a:rPr>
              <a:t>Training Set (80%):</a:t>
            </a:r>
            <a:r>
              <a:rPr lang="en-US" sz="2000" dirty="0">
                <a:solidFill>
                  <a:srgbClr val="0070C0"/>
                </a:solidFill>
                <a:latin typeface="+mn-lt"/>
                <a:ea typeface="Instrument Sans Medium" pitchFamily="34" charset="-122"/>
                <a:cs typeface="Instrument Sans Medium" pitchFamily="34" charset="-120"/>
              </a:rPr>
              <a:t> </a:t>
            </a:r>
            <a:r>
              <a:rPr lang="en-US" dirty="0">
                <a:solidFill>
                  <a:schemeClr val="tx1">
                    <a:lumMod val="95000"/>
                    <a:lumOff val="5000"/>
                  </a:schemeClr>
                </a:solidFill>
                <a:latin typeface="+mn-lt"/>
                <a:ea typeface="Instrument Sans Medium" pitchFamily="34" charset="-122"/>
                <a:cs typeface="Instrument Sans Medium" pitchFamily="34" charset="-120"/>
              </a:rPr>
              <a:t>Used to learn model weights through </a:t>
            </a:r>
          </a:p>
          <a:p>
            <a:pPr>
              <a:lnSpc>
                <a:spcPts val="2083"/>
              </a:lnSpc>
              <a:buSzPct val="100000"/>
            </a:pPr>
            <a:r>
              <a:rPr lang="en-US" dirty="0">
                <a:solidFill>
                  <a:schemeClr val="tx1">
                    <a:lumMod val="95000"/>
                    <a:lumOff val="5000"/>
                  </a:schemeClr>
                </a:solidFill>
                <a:latin typeface="+mn-lt"/>
                <a:ea typeface="Instrument Sans Medium" pitchFamily="34" charset="-122"/>
                <a:cs typeface="Instrument Sans Medium" pitchFamily="34" charset="-120"/>
              </a:rPr>
              <a:t>gradient descent</a:t>
            </a:r>
            <a:endParaRPr lang="en-US" dirty="0">
              <a:solidFill>
                <a:schemeClr val="tx1">
                  <a:lumMod val="95000"/>
                  <a:lumOff val="5000"/>
                </a:schemeClr>
              </a:solidFill>
              <a:latin typeface="+mn-lt"/>
            </a:endParaRPr>
          </a:p>
        </p:txBody>
      </p:sp>
      <p:sp>
        <p:nvSpPr>
          <p:cNvPr id="7" name="Text 5"/>
          <p:cNvSpPr/>
          <p:nvPr/>
        </p:nvSpPr>
        <p:spPr>
          <a:xfrm>
            <a:off x="190175" y="4508248"/>
            <a:ext cx="6360021" cy="264617"/>
          </a:xfrm>
          <a:prstGeom prst="rect">
            <a:avLst/>
          </a:prstGeom>
          <a:noFill/>
          <a:ln/>
        </p:spPr>
        <p:txBody>
          <a:bodyPr wrap="none" lIns="0" tIns="0" rIns="0" bIns="0" rtlCol="0" anchor="t"/>
          <a:lstStyle/>
          <a:p>
            <a:pPr marL="285739" indent="-285739">
              <a:lnSpc>
                <a:spcPts val="2083"/>
              </a:lnSpc>
              <a:buSzPct val="100000"/>
              <a:buChar char="•"/>
            </a:pPr>
            <a:r>
              <a:rPr lang="en-US" sz="2000" b="1" dirty="0">
                <a:solidFill>
                  <a:srgbClr val="0070C0"/>
                </a:solidFill>
                <a:latin typeface="+mn-lt"/>
                <a:ea typeface="Instrument Sans Medium" pitchFamily="34" charset="-122"/>
                <a:cs typeface="Instrument Sans Medium" pitchFamily="34" charset="-120"/>
              </a:rPr>
              <a:t>Test Set (20%):</a:t>
            </a:r>
            <a:r>
              <a:rPr lang="en-US" sz="2000" dirty="0">
                <a:solidFill>
                  <a:srgbClr val="0070C0"/>
                </a:solidFill>
                <a:latin typeface="+mn-lt"/>
                <a:ea typeface="Instrument Sans Medium" pitchFamily="34" charset="-122"/>
                <a:cs typeface="Instrument Sans Medium" pitchFamily="34" charset="-120"/>
              </a:rPr>
              <a:t> </a:t>
            </a:r>
            <a:r>
              <a:rPr lang="en-US" dirty="0">
                <a:solidFill>
                  <a:schemeClr val="tx1">
                    <a:lumMod val="95000"/>
                    <a:lumOff val="5000"/>
                  </a:schemeClr>
                </a:solidFill>
                <a:latin typeface="+mn-lt"/>
                <a:ea typeface="Instrument Sans Medium" pitchFamily="34" charset="-122"/>
                <a:cs typeface="Instrument Sans Medium" pitchFamily="34" charset="-120"/>
              </a:rPr>
              <a:t>Final evaluation on completely unseen data</a:t>
            </a:r>
            <a:endParaRPr lang="en-US" dirty="0">
              <a:solidFill>
                <a:schemeClr val="tx1">
                  <a:lumMod val="95000"/>
                  <a:lumOff val="5000"/>
                </a:schemeClr>
              </a:solidFill>
              <a:latin typeface="+mn-lt"/>
            </a:endParaRPr>
          </a:p>
        </p:txBody>
      </p:sp>
      <p:sp>
        <p:nvSpPr>
          <p:cNvPr id="10" name="Text 8"/>
          <p:cNvSpPr/>
          <p:nvPr/>
        </p:nvSpPr>
        <p:spPr>
          <a:xfrm>
            <a:off x="818556" y="4528543"/>
            <a:ext cx="6045894" cy="1058466"/>
          </a:xfrm>
          <a:prstGeom prst="rect">
            <a:avLst/>
          </a:prstGeom>
          <a:noFill/>
          <a:ln/>
        </p:spPr>
        <p:txBody>
          <a:bodyPr wrap="square" lIns="0" tIns="0" rIns="0" bIns="0" rtlCol="0" anchor="t"/>
          <a:lstStyle/>
          <a:p>
            <a:pPr>
              <a:lnSpc>
                <a:spcPts val="2083"/>
              </a:lnSpc>
            </a:pPr>
            <a:endParaRPr lang="en-US" sz="1292" dirty="0"/>
          </a:p>
        </p:txBody>
      </p:sp>
      <p:sp>
        <p:nvSpPr>
          <p:cNvPr id="18" name="Rectangle 17">
            <a:extLst>
              <a:ext uri="{FF2B5EF4-FFF2-40B4-BE49-F238E27FC236}">
                <a16:creationId xmlns:a16="http://schemas.microsoft.com/office/drawing/2014/main" id="{72D2D80A-1890-C5A4-E4EC-5B753BD3DFF6}"/>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D265A9DD-A881-AAAB-F483-D72B3CDAD1DA}"/>
              </a:ext>
            </a:extLst>
          </p:cNvPr>
          <p:cNvCxnSpPr>
            <a:cxnSpLocks/>
          </p:cNvCxnSpPr>
          <p:nvPr/>
        </p:nvCxnSpPr>
        <p:spPr>
          <a:xfrm>
            <a:off x="-11077"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9F0CA40E-89D7-F0F7-2786-C3948A86E638}"/>
              </a:ext>
            </a:extLst>
          </p:cNvPr>
          <p:cNvPicPr>
            <a:picLocks noChangeAspect="1"/>
          </p:cNvPicPr>
          <p:nvPr/>
        </p:nvPicPr>
        <p:blipFill>
          <a:blip r:embed="rId3"/>
          <a:stretch>
            <a:fillRect/>
          </a:stretch>
        </p:blipFill>
        <p:spPr>
          <a:xfrm>
            <a:off x="10600434" y="6453199"/>
            <a:ext cx="1591566" cy="348155"/>
          </a:xfrm>
          <a:prstGeom prst="rect">
            <a:avLst/>
          </a:prstGeom>
        </p:spPr>
      </p:pic>
      <p:pic>
        <p:nvPicPr>
          <p:cNvPr id="3074" name="Picture 2" descr="The pie chart represents an 80/20 train ...">
            <a:extLst>
              <a:ext uri="{FF2B5EF4-FFF2-40B4-BE49-F238E27FC236}">
                <a16:creationId xmlns:a16="http://schemas.microsoft.com/office/drawing/2014/main" id="{913D15C8-EA6A-658E-8D64-006DC9627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581" y="2466034"/>
            <a:ext cx="3880276" cy="23068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0470" y="359647"/>
            <a:ext cx="6133902" cy="516732"/>
          </a:xfrm>
          <a:prstGeom prst="rect">
            <a:avLst/>
          </a:prstGeom>
          <a:noFill/>
          <a:ln/>
        </p:spPr>
        <p:txBody>
          <a:bodyPr wrap="none" lIns="0" tIns="0" rIns="0" bIns="0" rtlCol="0" anchor="t"/>
          <a:lstStyle/>
          <a:p>
            <a:pPr>
              <a:lnSpc>
                <a:spcPts val="4042"/>
              </a:lnSpc>
            </a:pPr>
            <a:r>
              <a:rPr lang="en-US" sz="4000" b="1" dirty="0">
                <a:solidFill>
                  <a:srgbClr val="FF0000"/>
                </a:solidFill>
                <a:latin typeface="Instrument Sans Semi Bold" pitchFamily="34" charset="0"/>
                <a:ea typeface="Instrument Sans Semi Bold" pitchFamily="34" charset="-122"/>
                <a:cs typeface="Instrument Sans Semi Bold" pitchFamily="34" charset="-120"/>
              </a:rPr>
              <a:t>Linear Regression</a:t>
            </a:r>
            <a:endParaRPr lang="en-US" sz="4000" b="1" dirty="0">
              <a:solidFill>
                <a:srgbClr val="FF0000"/>
              </a:solidFill>
            </a:endParaRPr>
          </a:p>
        </p:txBody>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566" y="2685356"/>
            <a:ext cx="223243" cy="223243"/>
          </a:xfrm>
          <a:prstGeom prst="rect">
            <a:avLst/>
          </a:prstGeom>
        </p:spPr>
      </p:pic>
      <p:sp>
        <p:nvSpPr>
          <p:cNvPr id="7" name="Text 3"/>
          <p:cNvSpPr/>
          <p:nvPr/>
        </p:nvSpPr>
        <p:spPr>
          <a:xfrm>
            <a:off x="833140" y="3678139"/>
            <a:ext cx="5008563" cy="289123"/>
          </a:xfrm>
          <a:prstGeom prst="rect">
            <a:avLst/>
          </a:prstGeom>
          <a:noFill/>
          <a:ln/>
        </p:spPr>
        <p:txBody>
          <a:bodyPr wrap="none" lIns="0" tIns="0" rIns="0" bIns="0" rtlCol="0" anchor="t"/>
          <a:lstStyle/>
          <a:p>
            <a:pPr>
              <a:lnSpc>
                <a:spcPts val="2333"/>
              </a:lnSpc>
            </a:pPr>
            <a:endParaRPr lang="en-US" sz="1458" dirty="0"/>
          </a:p>
        </p:txBody>
      </p:sp>
      <p:pic>
        <p:nvPicPr>
          <p:cNvPr id="12"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6724" y="2685356"/>
            <a:ext cx="223243" cy="223243"/>
          </a:xfrm>
          <a:prstGeom prst="rect">
            <a:avLst/>
          </a:prstGeom>
        </p:spPr>
      </p:pic>
      <p:sp>
        <p:nvSpPr>
          <p:cNvPr id="14" name="Text 7"/>
          <p:cNvSpPr/>
          <p:nvPr/>
        </p:nvSpPr>
        <p:spPr>
          <a:xfrm>
            <a:off x="6350298" y="3678139"/>
            <a:ext cx="5008563" cy="289123"/>
          </a:xfrm>
          <a:prstGeom prst="rect">
            <a:avLst/>
          </a:prstGeom>
          <a:noFill/>
          <a:ln/>
        </p:spPr>
        <p:txBody>
          <a:bodyPr wrap="none" lIns="0" tIns="0" rIns="0" bIns="0" rtlCol="0" anchor="t"/>
          <a:lstStyle/>
          <a:p>
            <a:pPr>
              <a:lnSpc>
                <a:spcPts val="2333"/>
              </a:lnSpc>
            </a:pPr>
            <a:endParaRPr lang="en-US" sz="1458" dirty="0"/>
          </a:p>
        </p:txBody>
      </p:sp>
      <p:sp>
        <p:nvSpPr>
          <p:cNvPr id="18" name="Rectangle 17">
            <a:extLst>
              <a:ext uri="{FF2B5EF4-FFF2-40B4-BE49-F238E27FC236}">
                <a16:creationId xmlns:a16="http://schemas.microsoft.com/office/drawing/2014/main" id="{E9543ACC-0AF2-A2EF-DE38-12F168893FBE}"/>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E17402B-D5C9-5BB0-4A9C-E1E3AE4A0042}"/>
              </a:ext>
            </a:extLst>
          </p:cNvPr>
          <p:cNvCxnSpPr>
            <a:cxnSpLocks/>
          </p:cNvCxnSpPr>
          <p:nvPr/>
        </p:nvCxnSpPr>
        <p:spPr>
          <a:xfrm>
            <a:off x="0" y="6437467"/>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9A823F76-DC0C-AED4-E355-D2830DF733E4}"/>
              </a:ext>
            </a:extLst>
          </p:cNvPr>
          <p:cNvPicPr>
            <a:picLocks noChangeAspect="1"/>
          </p:cNvPicPr>
          <p:nvPr/>
        </p:nvPicPr>
        <p:blipFill>
          <a:blip r:embed="rId7"/>
          <a:stretch>
            <a:fillRect/>
          </a:stretch>
        </p:blipFill>
        <p:spPr>
          <a:xfrm>
            <a:off x="10600434" y="6453199"/>
            <a:ext cx="1591566" cy="34815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E0F85B2-80F1-900F-BA45-D959316A0EC7}"/>
                  </a:ext>
                </a:extLst>
              </p:cNvPr>
              <p:cNvSpPr txBox="1"/>
              <p:nvPr/>
            </p:nvSpPr>
            <p:spPr>
              <a:xfrm>
                <a:off x="381000" y="1066800"/>
                <a:ext cx="11582400" cy="5909310"/>
              </a:xfrm>
              <a:prstGeom prst="rect">
                <a:avLst/>
              </a:prstGeom>
              <a:noFill/>
            </p:spPr>
            <p:txBody>
              <a:bodyPr wrap="square" rtlCol="0">
                <a:spAutoFit/>
              </a:bodyPr>
              <a:lstStyle/>
              <a:p>
                <a:r>
                  <a:rPr lang="en-IN" dirty="0"/>
                  <a:t>The general equation for </a:t>
                </a:r>
                <a:r>
                  <a:rPr lang="en-IN" b="1" dirty="0"/>
                  <a:t>multiple linear regression</a:t>
                </a:r>
                <a:r>
                  <a:rPr lang="en-IN" dirty="0"/>
                  <a:t> is:</a:t>
                </a:r>
              </a:p>
              <a:p>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𝑛</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oMath>
                  </m:oMathPara>
                </a14:m>
                <a:endParaRPr lang="ar-AE" dirty="0"/>
              </a:p>
              <a:p>
                <a:r>
                  <a:rPr lang="en-IN" dirty="0"/>
                  <a:t>or in vector form:</a:t>
                </a:r>
              </a:p>
              <a:p>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r>
                        <a:rPr lang="ar-AE" i="1">
                          <a:latin typeface="Cambria Math" panose="02040503050406030204" pitchFamily="18" charset="0"/>
                        </a:rPr>
                        <m:t>𝑋</m:t>
                      </m:r>
                      <m:r>
                        <a:rPr lang="ar-AE" i="1">
                          <a:latin typeface="Cambria Math" panose="02040503050406030204" pitchFamily="18" charset="0"/>
                        </a:rPr>
                        <m:t>𝜃</m:t>
                      </m:r>
                    </m:oMath>
                  </m:oMathPara>
                </a14:m>
                <a:endParaRPr lang="ar-AE" dirty="0"/>
              </a:p>
              <a:p>
                <a:r>
                  <a:rPr lang="en-IN" dirty="0"/>
                  <a:t>Where:</a:t>
                </a:r>
              </a:p>
              <a:p>
                <a14:m>
                  <m:oMath xmlns:m="http://schemas.openxmlformats.org/officeDocument/2006/math">
                    <m:acc>
                      <m:accPr>
                        <m:chr m:val="̂"/>
                        <m:ctrlPr>
                          <a:rPr lang="ar-AE" i="1" smtClean="0">
                            <a:latin typeface="Cambria Math" panose="02040503050406030204" pitchFamily="18" charset="0"/>
                          </a:rPr>
                        </m:ctrlPr>
                      </m:accPr>
                      <m:e>
                        <m:r>
                          <a:rPr lang="ar-AE" i="1">
                            <a:latin typeface="Cambria Math" panose="02040503050406030204" pitchFamily="18" charset="0"/>
                          </a:rPr>
                          <m:t>𝑦</m:t>
                        </m:r>
                      </m:e>
                    </m:acc>
                    <m:r>
                      <a:rPr lang="en-IN" b="0" i="0" smtClean="0">
                        <a:latin typeface="Cambria Math" panose="02040503050406030204" pitchFamily="18" charset="0"/>
                      </a:rPr>
                      <m:t>:→</m:t>
                    </m:r>
                  </m:oMath>
                </a14:m>
                <a:r>
                  <a:rPr lang="en-IN" dirty="0"/>
                  <a:t>Predicted output (e.g., Potential Energy)</a:t>
                </a:r>
              </a:p>
              <a:p>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e>
                    </m:d>
                    <m:r>
                      <a:rPr lang="en-IN" b="0" i="0" smtClean="0">
                        <a:latin typeface="Cambria Math" panose="02040503050406030204" pitchFamily="18" charset="0"/>
                      </a:rPr>
                      <m:t> </m:t>
                    </m:r>
                  </m:oMath>
                </a14:m>
                <a:r>
                  <a:rPr lang="ar-AE" dirty="0"/>
                  <a:t> </a:t>
                </a:r>
                <a:r>
                  <a:rPr lang="en-IN" dirty="0"/>
                  <a:t>Input features (</a:t>
                </a:r>
                <a:r>
                  <a:rPr lang="en-IN" dirty="0" err="1"/>
                  <a:t>e.g</a:t>
                </a:r>
                <a:r>
                  <a:rPr lang="en-IN" dirty="0"/>
                  <a:t> Temperature, Volume, Pressure)</a:t>
                </a:r>
              </a:p>
              <a:p>
                <a14:m>
                  <m:oMath xmlns:m="http://schemas.openxmlformats.org/officeDocument/2006/math">
                    <m:r>
                      <a:rPr lang="en-IN" i="1">
                        <a:latin typeface="Cambria Math" panose="02040503050406030204" pitchFamily="18" charset="0"/>
                      </a:rPr>
                      <m:t>𝜃</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0</m:t>
                            </m:r>
                          </m:sub>
                        </m:sSub>
                      </m:e>
                      <m:e>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i="1">
                                <a:latin typeface="Cambria Math" panose="02040503050406030204" pitchFamily="18" charset="0"/>
                              </a:rPr>
                              <m:t>𝑛</m:t>
                            </m:r>
                          </m:sub>
                        </m:sSub>
                      </m:e>
                    </m:d>
                  </m:oMath>
                </a14:m>
                <a:r>
                  <a:rPr lang="ar-AE" dirty="0"/>
                  <a:t> </a:t>
                </a:r>
                <a:r>
                  <a:rPr lang="en-IN" dirty="0"/>
                  <a:t>Model parameters (weights)</a:t>
                </a:r>
              </a:p>
              <a:p>
                <a:endParaRPr lang="en-IN" dirty="0"/>
              </a:p>
              <a:p>
                <a:r>
                  <a:rPr lang="en-IN" u="sng" dirty="0" err="1">
                    <a:solidFill>
                      <a:schemeClr val="tx2"/>
                    </a:solidFill>
                  </a:rPr>
                  <a:t>Paramaters</a:t>
                </a:r>
                <a:r>
                  <a:rPr lang="en-IN" u="sng" dirty="0">
                    <a:solidFill>
                      <a:schemeClr val="tx2"/>
                    </a:solidFill>
                  </a:rPr>
                  <a:t>:-</a:t>
                </a:r>
              </a:p>
              <a:p>
                <a:endParaRPr lang="en-IN" dirty="0">
                  <a:solidFill>
                    <a:schemeClr val="tx1"/>
                  </a:solidFill>
                </a:endParaRPr>
              </a:p>
              <a:p>
                <a:r>
                  <a:rPr lang="en-IN" dirty="0">
                    <a:solidFill>
                      <a:schemeClr val="tx1"/>
                    </a:solidFill>
                  </a:rPr>
                  <a:t>1.</a:t>
                </a:r>
                <a:r>
                  <a:rPr lang="el-GR" b="1" dirty="0"/>
                  <a:t> </a:t>
                </a:r>
                <a:r>
                  <a:rPr lang="el-GR" dirty="0"/>
                  <a:t>θ₀ (</a:t>
                </a:r>
                <a:r>
                  <a:rPr lang="en-IN" dirty="0"/>
                  <a:t>Intercept)</a:t>
                </a:r>
              </a:p>
              <a:p>
                <a:r>
                  <a:rPr lang="en-IN" dirty="0">
                    <a:solidFill>
                      <a:schemeClr val="tx1"/>
                    </a:solidFill>
                  </a:rPr>
                  <a:t>2.</a:t>
                </a:r>
                <a:r>
                  <a:rPr lang="en-US" dirty="0"/>
                  <a:t> θ₁, θ₂, … θₙ (Coefficients/Weights)</a:t>
                </a:r>
                <a:endParaRPr lang="en-IN" dirty="0">
                  <a:solidFill>
                    <a:schemeClr val="tx1"/>
                  </a:solidFill>
                </a:endParaRPr>
              </a:p>
              <a:p>
                <a:endParaRPr lang="en-IN" dirty="0"/>
              </a:p>
              <a:p>
                <a:r>
                  <a:rPr lang="en-IN" u="sng" dirty="0" err="1">
                    <a:solidFill>
                      <a:schemeClr val="tx2"/>
                    </a:solidFill>
                  </a:rPr>
                  <a:t>HyperParamaters</a:t>
                </a:r>
                <a:r>
                  <a:rPr lang="en-IN" u="sng" dirty="0">
                    <a:solidFill>
                      <a:schemeClr val="tx2"/>
                    </a:solidFill>
                  </a:rPr>
                  <a:t>:-</a:t>
                </a:r>
              </a:p>
              <a:p>
                <a:r>
                  <a:rPr lang="en-IN" dirty="0"/>
                  <a:t>1.Learning Rate.</a:t>
                </a:r>
              </a:p>
              <a:p>
                <a:r>
                  <a:rPr lang="en-IN" dirty="0"/>
                  <a:t>2.Epochs.</a:t>
                </a:r>
              </a:p>
              <a:p>
                <a:r>
                  <a:rPr lang="en-IN" dirty="0"/>
                  <a:t>3. Regularization Parameters.</a:t>
                </a:r>
              </a:p>
              <a:p>
                <a:endParaRPr lang="en-IN" dirty="0"/>
              </a:p>
              <a:p>
                <a:endParaRPr lang="en-IN" dirty="0"/>
              </a:p>
              <a:p>
                <a:endParaRPr lang="en-IN" dirty="0"/>
              </a:p>
            </p:txBody>
          </p:sp>
        </mc:Choice>
        <mc:Fallback xmlns="">
          <p:sp>
            <p:nvSpPr>
              <p:cNvPr id="13" name="TextBox 12">
                <a:extLst>
                  <a:ext uri="{FF2B5EF4-FFF2-40B4-BE49-F238E27FC236}">
                    <a16:creationId xmlns:a16="http://schemas.microsoft.com/office/drawing/2014/main" id="{1E0F85B2-80F1-900F-BA45-D959316A0EC7}"/>
                  </a:ext>
                </a:extLst>
              </p:cNvPr>
              <p:cNvSpPr txBox="1">
                <a:spLocks noRot="1" noChangeAspect="1" noMove="1" noResize="1" noEditPoints="1" noAdjustHandles="1" noChangeArrowheads="1" noChangeShapeType="1" noTextEdit="1"/>
              </p:cNvSpPr>
              <p:nvPr/>
            </p:nvSpPr>
            <p:spPr>
              <a:xfrm>
                <a:off x="381000" y="1066800"/>
                <a:ext cx="11582400" cy="5909310"/>
              </a:xfrm>
              <a:prstGeom prst="rect">
                <a:avLst/>
              </a:prstGeom>
              <a:blipFill>
                <a:blip r:embed="rId8"/>
                <a:stretch>
                  <a:fillRect l="-474" t="-516"/>
                </a:stretch>
              </a:blipFill>
            </p:spPr>
            <p:txBody>
              <a:bodyPr/>
              <a:lstStyle/>
              <a:p>
                <a:r>
                  <a:rPr lang="en-IN">
                    <a:noFill/>
                  </a:rPr>
                  <a:t> </a:t>
                </a:r>
              </a:p>
            </p:txBody>
          </p:sp>
        </mc:Fallback>
      </mc:AlternateContent>
      <p:pic>
        <p:nvPicPr>
          <p:cNvPr id="4098" name="Picture 2" descr="Linear Regression in Machine learning - GeeksforGeeks">
            <a:extLst>
              <a:ext uri="{FF2B5EF4-FFF2-40B4-BE49-F238E27FC236}">
                <a16:creationId xmlns:a16="http://schemas.microsoft.com/office/drawing/2014/main" id="{94D7EC85-7CE8-0858-CE6D-26DA731BAB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3800" y="2506222"/>
            <a:ext cx="4563849" cy="34794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C926-B2F1-505A-1D9A-69F13A52AA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C7FD42-078D-F79E-591A-DA0EEBD01E46}"/>
              </a:ext>
            </a:extLst>
          </p:cNvPr>
          <p:cNvSpPr/>
          <p:nvPr/>
        </p:nvSpPr>
        <p:spPr>
          <a:xfrm>
            <a:off x="270470" y="359647"/>
            <a:ext cx="6133902" cy="516732"/>
          </a:xfrm>
          <a:prstGeom prst="rect">
            <a:avLst/>
          </a:prstGeom>
          <a:noFill/>
          <a:ln/>
        </p:spPr>
        <p:txBody>
          <a:bodyPr wrap="none" lIns="0" tIns="0" rIns="0" bIns="0" rtlCol="0" anchor="t"/>
          <a:lstStyle/>
          <a:p>
            <a:pPr>
              <a:lnSpc>
                <a:spcPts val="4042"/>
              </a:lnSpc>
            </a:pPr>
            <a:r>
              <a:rPr lang="en-US" sz="4000" b="1" dirty="0">
                <a:solidFill>
                  <a:srgbClr val="FF0000"/>
                </a:solidFill>
                <a:latin typeface="Instrument Sans Semi Bold" pitchFamily="34" charset="0"/>
                <a:ea typeface="Instrument Sans Semi Bold" pitchFamily="34" charset="-122"/>
              </a:rPr>
              <a:t>Neural Network</a:t>
            </a:r>
            <a:endParaRPr lang="en-US" sz="4000" b="1" dirty="0">
              <a:solidFill>
                <a:srgbClr val="FF0000"/>
              </a:solidFill>
            </a:endParaRPr>
          </a:p>
        </p:txBody>
      </p:sp>
      <p:pic>
        <p:nvPicPr>
          <p:cNvPr id="5" name="Image 1" descr="preencoded.png">
            <a:extLst>
              <a:ext uri="{FF2B5EF4-FFF2-40B4-BE49-F238E27FC236}">
                <a16:creationId xmlns:a16="http://schemas.microsoft.com/office/drawing/2014/main" id="{3D553C6C-68B8-72CC-EA94-47AD46D9B7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566" y="2685356"/>
            <a:ext cx="223243" cy="223243"/>
          </a:xfrm>
          <a:prstGeom prst="rect">
            <a:avLst/>
          </a:prstGeom>
        </p:spPr>
      </p:pic>
      <p:sp>
        <p:nvSpPr>
          <p:cNvPr id="7" name="Text 3">
            <a:extLst>
              <a:ext uri="{FF2B5EF4-FFF2-40B4-BE49-F238E27FC236}">
                <a16:creationId xmlns:a16="http://schemas.microsoft.com/office/drawing/2014/main" id="{88FCE5A6-0AB1-0B21-DA70-CF333717816E}"/>
              </a:ext>
            </a:extLst>
          </p:cNvPr>
          <p:cNvSpPr/>
          <p:nvPr/>
        </p:nvSpPr>
        <p:spPr>
          <a:xfrm>
            <a:off x="833140" y="3678139"/>
            <a:ext cx="5008563" cy="289123"/>
          </a:xfrm>
          <a:prstGeom prst="rect">
            <a:avLst/>
          </a:prstGeom>
          <a:noFill/>
          <a:ln/>
        </p:spPr>
        <p:txBody>
          <a:bodyPr wrap="none" lIns="0" tIns="0" rIns="0" bIns="0" rtlCol="0" anchor="t"/>
          <a:lstStyle/>
          <a:p>
            <a:pPr>
              <a:lnSpc>
                <a:spcPts val="2333"/>
              </a:lnSpc>
            </a:pPr>
            <a:endParaRPr lang="en-US" sz="1458" dirty="0"/>
          </a:p>
        </p:txBody>
      </p:sp>
      <p:pic>
        <p:nvPicPr>
          <p:cNvPr id="12" name="Image 4" descr="preencoded.png">
            <a:extLst>
              <a:ext uri="{FF2B5EF4-FFF2-40B4-BE49-F238E27FC236}">
                <a16:creationId xmlns:a16="http://schemas.microsoft.com/office/drawing/2014/main" id="{DFEA6617-04FE-6CC5-09D4-D0180BB19F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6724" y="2685356"/>
            <a:ext cx="223243" cy="223243"/>
          </a:xfrm>
          <a:prstGeom prst="rect">
            <a:avLst/>
          </a:prstGeom>
        </p:spPr>
      </p:pic>
      <p:sp>
        <p:nvSpPr>
          <p:cNvPr id="14" name="Text 7">
            <a:extLst>
              <a:ext uri="{FF2B5EF4-FFF2-40B4-BE49-F238E27FC236}">
                <a16:creationId xmlns:a16="http://schemas.microsoft.com/office/drawing/2014/main" id="{4B43CCE2-153F-6078-96BF-660F0504760D}"/>
              </a:ext>
            </a:extLst>
          </p:cNvPr>
          <p:cNvSpPr/>
          <p:nvPr/>
        </p:nvSpPr>
        <p:spPr>
          <a:xfrm>
            <a:off x="6350298" y="3678139"/>
            <a:ext cx="5008563" cy="289123"/>
          </a:xfrm>
          <a:prstGeom prst="rect">
            <a:avLst/>
          </a:prstGeom>
          <a:noFill/>
          <a:ln/>
        </p:spPr>
        <p:txBody>
          <a:bodyPr wrap="none" lIns="0" tIns="0" rIns="0" bIns="0" rtlCol="0" anchor="t"/>
          <a:lstStyle/>
          <a:p>
            <a:pPr>
              <a:lnSpc>
                <a:spcPts val="2333"/>
              </a:lnSpc>
            </a:pPr>
            <a:endParaRPr lang="en-US" sz="1458" dirty="0"/>
          </a:p>
        </p:txBody>
      </p:sp>
      <p:sp>
        <p:nvSpPr>
          <p:cNvPr id="18" name="Rectangle 17">
            <a:extLst>
              <a:ext uri="{FF2B5EF4-FFF2-40B4-BE49-F238E27FC236}">
                <a16:creationId xmlns:a16="http://schemas.microsoft.com/office/drawing/2014/main" id="{11CAFD5B-A63F-B1B5-EA15-A4702E3B0585}"/>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FD28272-80AF-BA50-2DD5-63869F256DBB}"/>
              </a:ext>
            </a:extLst>
          </p:cNvPr>
          <p:cNvCxnSpPr>
            <a:cxnSpLocks/>
          </p:cNvCxnSpPr>
          <p:nvPr/>
        </p:nvCxnSpPr>
        <p:spPr>
          <a:xfrm>
            <a:off x="0" y="6437467"/>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5E8B5255-34D5-AEF0-1371-C0ABFA9585B5}"/>
              </a:ext>
            </a:extLst>
          </p:cNvPr>
          <p:cNvPicPr>
            <a:picLocks noChangeAspect="1"/>
          </p:cNvPicPr>
          <p:nvPr/>
        </p:nvPicPr>
        <p:blipFill>
          <a:blip r:embed="rId7"/>
          <a:stretch>
            <a:fillRect/>
          </a:stretch>
        </p:blipFill>
        <p:spPr>
          <a:xfrm>
            <a:off x="10600434" y="6453199"/>
            <a:ext cx="1591566" cy="348155"/>
          </a:xfrm>
          <a:prstGeom prst="rect">
            <a:avLst/>
          </a:prstGeom>
        </p:spPr>
      </p:pic>
      <p:sp>
        <p:nvSpPr>
          <p:cNvPr id="13" name="TextBox 12">
            <a:extLst>
              <a:ext uri="{FF2B5EF4-FFF2-40B4-BE49-F238E27FC236}">
                <a16:creationId xmlns:a16="http://schemas.microsoft.com/office/drawing/2014/main" id="{1F79D591-4E0B-9BB2-14C5-F6C89F7D5E61}"/>
              </a:ext>
            </a:extLst>
          </p:cNvPr>
          <p:cNvSpPr txBox="1"/>
          <p:nvPr/>
        </p:nvSpPr>
        <p:spPr>
          <a:xfrm>
            <a:off x="609600" y="1066804"/>
            <a:ext cx="7467600" cy="4524315"/>
          </a:xfrm>
          <a:prstGeom prst="rect">
            <a:avLst/>
          </a:prstGeom>
          <a:noFill/>
        </p:spPr>
        <p:txBody>
          <a:bodyPr wrap="square" rtlCol="0">
            <a:spAutoFit/>
          </a:bodyPr>
          <a:lstStyle/>
          <a:p>
            <a:pPr algn="just"/>
            <a:r>
              <a:rPr lang="en-US" dirty="0"/>
              <a:t>A neural network is composed of layers of interconnected units called </a:t>
            </a:r>
            <a:r>
              <a:rPr lang="en-US" b="1" dirty="0"/>
              <a:t>neurons</a:t>
            </a:r>
            <a:r>
              <a:rPr lang="en-US" dirty="0"/>
              <a:t>. Each neuron receives input, processes it using a mathematical function, and passes the result to the next layer. The network learns by adjusting </a:t>
            </a:r>
            <a:r>
              <a:rPr lang="en-US" b="1" dirty="0"/>
              <a:t>weights</a:t>
            </a:r>
            <a:r>
              <a:rPr lang="en-US" dirty="0"/>
              <a:t> and </a:t>
            </a:r>
            <a:r>
              <a:rPr lang="en-US" b="1" dirty="0"/>
              <a:t>biases</a:t>
            </a:r>
            <a:r>
              <a:rPr lang="en-US" dirty="0"/>
              <a:t> during training to minimize prediction errors.</a:t>
            </a:r>
          </a:p>
          <a:p>
            <a:endParaRPr lang="en-US" dirty="0"/>
          </a:p>
          <a:p>
            <a:r>
              <a:rPr lang="en-US" b="1" dirty="0"/>
              <a:t>Input Layer</a:t>
            </a:r>
            <a:r>
              <a:rPr lang="en-US" dirty="0"/>
              <a:t>: Receives raw data (e.g., images, text, sensor readings).</a:t>
            </a:r>
          </a:p>
          <a:p>
            <a:r>
              <a:rPr lang="en-US" b="1" dirty="0"/>
              <a:t>Hidden Layers</a:t>
            </a:r>
            <a:r>
              <a:rPr lang="en-US" dirty="0"/>
              <a:t>: Perform transformations and extract features.</a:t>
            </a:r>
          </a:p>
          <a:p>
            <a:r>
              <a:rPr lang="en-US" b="1" dirty="0"/>
              <a:t>Output Layer</a:t>
            </a:r>
            <a:r>
              <a:rPr lang="en-US" dirty="0"/>
              <a:t>: Produces predictions or classifications.</a:t>
            </a:r>
          </a:p>
          <a:p>
            <a:endParaRPr lang="en-IN" dirty="0"/>
          </a:p>
          <a:p>
            <a:r>
              <a:rPr lang="en-US" dirty="0"/>
              <a:t>Each connection between neurons has a </a:t>
            </a:r>
            <a:r>
              <a:rPr lang="en-US" b="1" dirty="0"/>
              <a:t>weight</a:t>
            </a:r>
            <a:r>
              <a:rPr lang="en-US" dirty="0"/>
              <a:t>, and each neuron has an </a:t>
            </a:r>
            <a:r>
              <a:rPr lang="en-US" b="1" dirty="0"/>
              <a:t>activation function</a:t>
            </a:r>
            <a:r>
              <a:rPr lang="en-US" dirty="0"/>
              <a:t> (like </a:t>
            </a:r>
            <a:r>
              <a:rPr lang="en-US" dirty="0" err="1"/>
              <a:t>ReLU</a:t>
            </a:r>
            <a:r>
              <a:rPr lang="en-US" dirty="0"/>
              <a:t>, sigmoid, or tanh) that determines its output.</a:t>
            </a:r>
            <a:endParaRPr lang="en-IN" dirty="0"/>
          </a:p>
          <a:p>
            <a:endParaRPr lang="en-IN" dirty="0"/>
          </a:p>
          <a:p>
            <a:endParaRPr lang="en-IN" dirty="0"/>
          </a:p>
          <a:p>
            <a:endParaRPr lang="en-IN" dirty="0"/>
          </a:p>
        </p:txBody>
      </p:sp>
      <p:pic>
        <p:nvPicPr>
          <p:cNvPr id="6146" name="Picture 2" descr="Neural network (machine learning) - Wikipedia">
            <a:extLst>
              <a:ext uri="{FF2B5EF4-FFF2-40B4-BE49-F238E27FC236}">
                <a16:creationId xmlns:a16="http://schemas.microsoft.com/office/drawing/2014/main" id="{D721B73B-93B0-7E3F-786D-88D28998C1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5015" y="1464495"/>
            <a:ext cx="3429000" cy="412662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alculus in Action: Neural Networks - MachineLearningMastery.com">
            <a:extLst>
              <a:ext uri="{FF2B5EF4-FFF2-40B4-BE49-F238E27FC236}">
                <a16:creationId xmlns:a16="http://schemas.microsoft.com/office/drawing/2014/main" id="{32BBCA59-3FB1-B94D-EDF5-FBA87669E1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9623" y="4736802"/>
            <a:ext cx="3514725"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800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D53E94-E1B2-5BC0-3B05-493488B9E59F}"/>
              </a:ext>
            </a:extLst>
          </p:cNvPr>
          <p:cNvSpPr txBox="1"/>
          <p:nvPr/>
        </p:nvSpPr>
        <p:spPr>
          <a:xfrm>
            <a:off x="1143000" y="187012"/>
            <a:ext cx="11506200" cy="584775"/>
          </a:xfrm>
          <a:prstGeom prst="rect">
            <a:avLst/>
          </a:prstGeom>
          <a:noFill/>
        </p:spPr>
        <p:txBody>
          <a:bodyPr wrap="square" rtlCol="0">
            <a:spAutoFit/>
          </a:bodyPr>
          <a:lstStyle/>
          <a:p>
            <a:r>
              <a:rPr lang="en-IN" sz="3200" b="1" dirty="0">
                <a:solidFill>
                  <a:srgbClr val="FF0000"/>
                </a:solidFill>
              </a:rPr>
              <a:t>MD Simulation Results:-</a:t>
            </a:r>
          </a:p>
        </p:txBody>
      </p:sp>
      <p:pic>
        <p:nvPicPr>
          <p:cNvPr id="4" name="Picture 3">
            <a:extLst>
              <a:ext uri="{FF2B5EF4-FFF2-40B4-BE49-F238E27FC236}">
                <a16:creationId xmlns:a16="http://schemas.microsoft.com/office/drawing/2014/main" id="{7C94B383-609A-13B8-03D4-7377DA9639F3}"/>
              </a:ext>
            </a:extLst>
          </p:cNvPr>
          <p:cNvPicPr>
            <a:picLocks noChangeAspect="1"/>
          </p:cNvPicPr>
          <p:nvPr/>
        </p:nvPicPr>
        <p:blipFill>
          <a:blip r:embed="rId3"/>
          <a:stretch>
            <a:fillRect/>
          </a:stretch>
        </p:blipFill>
        <p:spPr>
          <a:xfrm>
            <a:off x="1066800" y="1223799"/>
            <a:ext cx="8924191" cy="4410402"/>
          </a:xfrm>
          <a:prstGeom prst="rect">
            <a:avLst/>
          </a:prstGeom>
        </p:spPr>
      </p:pic>
      <p:sp>
        <p:nvSpPr>
          <p:cNvPr id="9" name="Rectangle 1">
            <a:extLst>
              <a:ext uri="{FF2B5EF4-FFF2-40B4-BE49-F238E27FC236}">
                <a16:creationId xmlns:a16="http://schemas.microsoft.com/office/drawing/2014/main" id="{4B3E46B1-B427-8449-750C-C7F8D123243A}"/>
              </a:ext>
            </a:extLst>
          </p:cNvPr>
          <p:cNvSpPr>
            <a:spLocks noChangeArrowheads="1"/>
          </p:cNvSpPr>
          <p:nvPr/>
        </p:nvSpPr>
        <p:spPr bwMode="auto">
          <a:xfrm flipV="1">
            <a:off x="538316" y="4234855"/>
            <a:ext cx="16763281" cy="6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1653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C39C4C-565E-0572-CC0B-095DB2B64F0D}"/>
              </a:ext>
            </a:extLst>
          </p:cNvPr>
          <p:cNvSpPr txBox="1"/>
          <p:nvPr/>
        </p:nvSpPr>
        <p:spPr>
          <a:xfrm>
            <a:off x="685800" y="1066800"/>
            <a:ext cx="6667500" cy="584775"/>
          </a:xfrm>
          <a:prstGeom prst="rect">
            <a:avLst/>
          </a:prstGeom>
          <a:noFill/>
        </p:spPr>
        <p:txBody>
          <a:bodyPr wrap="square" rtlCol="0">
            <a:spAutoFit/>
          </a:bodyPr>
          <a:lstStyle/>
          <a:p>
            <a:r>
              <a:rPr lang="en-IN" sz="3200" b="1" dirty="0">
                <a:solidFill>
                  <a:srgbClr val="FF0000"/>
                </a:solidFill>
              </a:rPr>
              <a:t>ML model Results:-</a:t>
            </a:r>
          </a:p>
        </p:txBody>
      </p:sp>
      <p:graphicFrame>
        <p:nvGraphicFramePr>
          <p:cNvPr id="8" name="Table 7">
            <a:extLst>
              <a:ext uri="{FF2B5EF4-FFF2-40B4-BE49-F238E27FC236}">
                <a16:creationId xmlns:a16="http://schemas.microsoft.com/office/drawing/2014/main" id="{E9C84C07-720D-E6C7-0E9A-0CF7523AC362}"/>
              </a:ext>
            </a:extLst>
          </p:cNvPr>
          <p:cNvGraphicFramePr>
            <a:graphicFrameLocks noGrp="1"/>
          </p:cNvGraphicFramePr>
          <p:nvPr>
            <p:extLst>
              <p:ext uri="{D42A27DB-BD31-4B8C-83A1-F6EECF244321}">
                <p14:modId xmlns:p14="http://schemas.microsoft.com/office/powerpoint/2010/main" val="61954581"/>
              </p:ext>
            </p:extLst>
          </p:nvPr>
        </p:nvGraphicFramePr>
        <p:xfrm>
          <a:off x="1447800" y="2819400"/>
          <a:ext cx="8305800" cy="2235200"/>
        </p:xfrm>
        <a:graphic>
          <a:graphicData uri="http://schemas.openxmlformats.org/drawingml/2006/table">
            <a:tbl>
              <a:tblPr/>
              <a:tblGrid>
                <a:gridCol w="2768600">
                  <a:extLst>
                    <a:ext uri="{9D8B030D-6E8A-4147-A177-3AD203B41FA5}">
                      <a16:colId xmlns:a16="http://schemas.microsoft.com/office/drawing/2014/main" val="3429178604"/>
                    </a:ext>
                  </a:extLst>
                </a:gridCol>
                <a:gridCol w="2768600">
                  <a:extLst>
                    <a:ext uri="{9D8B030D-6E8A-4147-A177-3AD203B41FA5}">
                      <a16:colId xmlns:a16="http://schemas.microsoft.com/office/drawing/2014/main" val="3795952797"/>
                    </a:ext>
                  </a:extLst>
                </a:gridCol>
                <a:gridCol w="2768600">
                  <a:extLst>
                    <a:ext uri="{9D8B030D-6E8A-4147-A177-3AD203B41FA5}">
                      <a16:colId xmlns:a16="http://schemas.microsoft.com/office/drawing/2014/main" val="3963735383"/>
                    </a:ext>
                  </a:extLst>
                </a:gridCol>
              </a:tblGrid>
              <a:tr h="558800">
                <a:tc>
                  <a:txBody>
                    <a:bodyPr/>
                    <a:lstStyle/>
                    <a:p>
                      <a:pPr algn="ctr" fontAlgn="base">
                        <a:lnSpc>
                          <a:spcPts val="2400"/>
                        </a:lnSpc>
                        <a:buNone/>
                      </a:pPr>
                      <a:r>
                        <a:rPr lang="en-IN" sz="1800" b="1" i="0">
                          <a:solidFill>
                            <a:srgbClr val="1B1C1D"/>
                          </a:solidFill>
                          <a:effectLst/>
                          <a:latin typeface="Google Sans Text"/>
                        </a:rPr>
                        <a:t>Model</a:t>
                      </a:r>
                      <a:r>
                        <a:rPr lang="en-IN" sz="1800" b="1" i="0">
                          <a:solidFill>
                            <a:srgbClr val="FFFFFF"/>
                          </a:solidFill>
                          <a:effectLst/>
                          <a:latin typeface="Google Sans Text"/>
                        </a:rPr>
                        <a:t>​</a:t>
                      </a:r>
                      <a:endParaRPr lang="en-IN" sz="1800" b="1" i="0">
                        <a:solidFill>
                          <a:srgbClr val="FFFFFF"/>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ctr" fontAlgn="base">
                        <a:lnSpc>
                          <a:spcPts val="2400"/>
                        </a:lnSpc>
                        <a:buNone/>
                      </a:pPr>
                      <a:r>
                        <a:rPr lang="en-IN" sz="1800" b="1" i="0" dirty="0">
                          <a:solidFill>
                            <a:srgbClr val="1B1C1D"/>
                          </a:solidFill>
                          <a:effectLst/>
                          <a:latin typeface="Google Sans Text"/>
                        </a:rPr>
                        <a:t>RMSE</a:t>
                      </a:r>
                      <a:r>
                        <a:rPr lang="en-IN" sz="1800" b="1" i="0" dirty="0">
                          <a:solidFill>
                            <a:srgbClr val="FFFFFF"/>
                          </a:solidFill>
                          <a:effectLst/>
                          <a:latin typeface="Google Sans Text"/>
                        </a:rPr>
                        <a:t>​</a:t>
                      </a:r>
                      <a:endParaRPr lang="en-IN" sz="1800" b="1" i="0" dirty="0">
                        <a:solidFill>
                          <a:srgbClr val="FFFFFF"/>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ctr" fontAlgn="base">
                        <a:lnSpc>
                          <a:spcPts val="2400"/>
                        </a:lnSpc>
                        <a:buNone/>
                      </a:pPr>
                      <a:r>
                        <a:rPr lang="en-IN" sz="1800" b="1" i="0" dirty="0">
                          <a:solidFill>
                            <a:srgbClr val="1B1C1D"/>
                          </a:solidFill>
                          <a:effectLst/>
                          <a:latin typeface="Google Sans Text"/>
                        </a:rPr>
                        <a:t>R-square</a:t>
                      </a:r>
                      <a:r>
                        <a:rPr lang="en-IN" sz="1800" b="1" i="0" dirty="0">
                          <a:solidFill>
                            <a:srgbClr val="FFFFFF"/>
                          </a:solidFill>
                          <a:effectLst/>
                          <a:latin typeface="Google Sans Text"/>
                        </a:rPr>
                        <a:t>​</a:t>
                      </a:r>
                      <a:endParaRPr lang="en-IN" sz="1800" b="1" i="0" dirty="0">
                        <a:solidFill>
                          <a:srgbClr val="FFFFFF"/>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978200628"/>
                  </a:ext>
                </a:extLst>
              </a:tr>
              <a:tr h="558800">
                <a:tc>
                  <a:txBody>
                    <a:bodyPr/>
                    <a:lstStyle/>
                    <a:p>
                      <a:pPr algn="ctr" fontAlgn="base">
                        <a:lnSpc>
                          <a:spcPts val="2400"/>
                        </a:lnSpc>
                        <a:buNone/>
                      </a:pPr>
                      <a:r>
                        <a:rPr lang="en-IN" sz="1800" b="1" i="0">
                          <a:solidFill>
                            <a:srgbClr val="1B1C1D"/>
                          </a:solidFill>
                          <a:effectLst/>
                          <a:latin typeface="Google Sans Text"/>
                        </a:rPr>
                        <a:t>Linear Regression</a:t>
                      </a:r>
                      <a:r>
                        <a:rPr lang="en-IN" sz="1800" b="0" i="0">
                          <a:solidFill>
                            <a:srgbClr val="000000"/>
                          </a:solidFill>
                          <a:effectLst/>
                          <a:latin typeface="Google Sans Text"/>
                        </a:rPr>
                        <a:t>​</a:t>
                      </a:r>
                      <a:endParaRPr lang="en-IN" sz="1800" b="0" i="0">
                        <a:solidFill>
                          <a:srgbClr val="000000"/>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tc>
                  <a:txBody>
                    <a:bodyPr/>
                    <a:lstStyle/>
                    <a:p>
                      <a:pPr algn="ctr" fontAlgn="base">
                        <a:lnSpc>
                          <a:spcPts val="2400"/>
                        </a:lnSpc>
                        <a:buNone/>
                      </a:pPr>
                      <a:r>
                        <a:rPr lang="en-IN" sz="1800" b="0" i="0" dirty="0">
                          <a:solidFill>
                            <a:srgbClr val="1B1C1D"/>
                          </a:solidFill>
                          <a:effectLst/>
                          <a:latin typeface="Google Sans Text"/>
                        </a:rPr>
                        <a:t>9.9946</a:t>
                      </a:r>
                      <a:endParaRPr lang="en-IN" sz="1800" b="0" i="0" dirty="0">
                        <a:solidFill>
                          <a:srgbClr val="000000"/>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tc>
                  <a:txBody>
                    <a:bodyPr/>
                    <a:lstStyle/>
                    <a:p>
                      <a:pPr algn="ctr" fontAlgn="base">
                        <a:lnSpc>
                          <a:spcPts val="2400"/>
                        </a:lnSpc>
                        <a:buNone/>
                      </a:pPr>
                      <a:r>
                        <a:rPr lang="en-IN" sz="1800" b="0" i="0" dirty="0">
                          <a:solidFill>
                            <a:srgbClr val="1B1C1D"/>
                          </a:solidFill>
                          <a:effectLst/>
                          <a:latin typeface="Google Sans Text"/>
                        </a:rPr>
                        <a:t>0.9977</a:t>
                      </a:r>
                      <a:endParaRPr lang="en-IN" sz="1800" b="0" i="0" dirty="0">
                        <a:solidFill>
                          <a:srgbClr val="000000"/>
                        </a:solidFill>
                        <a:effectLst/>
                      </a:endParaRP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extLst>
                  <a:ext uri="{0D108BD9-81ED-4DB2-BD59-A6C34878D82A}">
                    <a16:rowId xmlns:a16="http://schemas.microsoft.com/office/drawing/2014/main" val="1992244058"/>
                  </a:ext>
                </a:extLst>
              </a:tr>
              <a:tr h="558800">
                <a:tc>
                  <a:txBody>
                    <a:bodyPr/>
                    <a:lstStyle/>
                    <a:p>
                      <a:pPr algn="ctr" fontAlgn="base">
                        <a:lnSpc>
                          <a:spcPts val="2400"/>
                        </a:lnSpc>
                        <a:buNone/>
                      </a:pPr>
                      <a:r>
                        <a:rPr lang="en-IN" sz="1800" b="1" i="0" dirty="0">
                          <a:solidFill>
                            <a:srgbClr val="000000"/>
                          </a:solidFill>
                          <a:effectLst/>
                        </a:rPr>
                        <a:t>Neural Network</a:t>
                      </a: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tc>
                  <a:txBody>
                    <a:bodyPr/>
                    <a:lstStyle/>
                    <a:p>
                      <a:pPr algn="ctr" fontAlgn="base">
                        <a:lnSpc>
                          <a:spcPts val="2400"/>
                        </a:lnSpc>
                        <a:buNone/>
                      </a:pPr>
                      <a:r>
                        <a:rPr lang="en-IN" sz="1800" b="0" i="0" dirty="0">
                          <a:solidFill>
                            <a:srgbClr val="000000"/>
                          </a:solidFill>
                          <a:effectLst/>
                        </a:rPr>
                        <a:t>2.1917</a:t>
                      </a: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tc>
                  <a:txBody>
                    <a:bodyPr/>
                    <a:lstStyle/>
                    <a:p>
                      <a:pPr algn="ctr" fontAlgn="base">
                        <a:lnSpc>
                          <a:spcPts val="2400"/>
                        </a:lnSpc>
                        <a:buNone/>
                      </a:pPr>
                      <a:r>
                        <a:rPr lang="en-IN" sz="1800" b="0" i="0" dirty="0">
                          <a:solidFill>
                            <a:srgbClr val="000000"/>
                          </a:solidFill>
                          <a:effectLst/>
                        </a:rPr>
                        <a:t>0.9999</a:t>
                      </a:r>
                    </a:p>
                  </a:txBody>
                  <a:tcPr marL="55994" marR="55994" marT="27997" marB="27997"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F4B183"/>
                    </a:solidFill>
                  </a:tcPr>
                </a:tc>
                <a:extLst>
                  <a:ext uri="{0D108BD9-81ED-4DB2-BD59-A6C34878D82A}">
                    <a16:rowId xmlns:a16="http://schemas.microsoft.com/office/drawing/2014/main" val="4146106909"/>
                  </a:ext>
                </a:extLst>
              </a:tr>
              <a:tr h="558800">
                <a:tc>
                  <a:txBody>
                    <a:bodyPr/>
                    <a:lstStyle/>
                    <a:p>
                      <a:pPr algn="ctr" rtl="0" fontAlgn="base">
                        <a:lnSpc>
                          <a:spcPts val="1650"/>
                        </a:lnSpc>
                        <a:buNone/>
                      </a:pPr>
                      <a:r>
                        <a:rPr lang="en-IN" sz="1800" b="1" i="0" dirty="0">
                          <a:solidFill>
                            <a:srgbClr val="1B1C1D"/>
                          </a:solidFill>
                          <a:effectLst/>
                          <a:latin typeface="Google Sans Text"/>
                        </a:rPr>
                        <a:t>Best model</a:t>
                      </a:r>
                      <a:r>
                        <a:rPr lang="en-IN" sz="1800" b="0" i="0" dirty="0">
                          <a:solidFill>
                            <a:srgbClr val="000000"/>
                          </a:solidFill>
                          <a:effectLst/>
                          <a:latin typeface="Google Sans Text"/>
                        </a:rPr>
                        <a:t>​</a:t>
                      </a:r>
                      <a:endParaRPr lang="en-IN" sz="1800" b="0" i="0" dirty="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B183"/>
                    </a:solidFill>
                  </a:tcPr>
                </a:tc>
                <a:tc>
                  <a:txBody>
                    <a:bodyPr/>
                    <a:lstStyle/>
                    <a:p>
                      <a:pPr algn="ctr" rtl="0" fontAlgn="base">
                        <a:lnSpc>
                          <a:spcPts val="1650"/>
                        </a:lnSpc>
                        <a:buNone/>
                      </a:pPr>
                      <a:r>
                        <a:rPr lang="en-IN" sz="1800" b="1" i="0" dirty="0">
                          <a:solidFill>
                            <a:srgbClr val="1B1C1D"/>
                          </a:solidFill>
                          <a:effectLst/>
                          <a:latin typeface="Google Sans Text"/>
                        </a:rPr>
                        <a:t>Neural Network</a:t>
                      </a:r>
                      <a:endParaRPr lang="en-IN" sz="1800" b="0" i="0" dirty="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B183"/>
                    </a:solidFill>
                  </a:tcPr>
                </a:tc>
                <a:tc>
                  <a:txBody>
                    <a:bodyPr/>
                    <a:lstStyle/>
                    <a:p>
                      <a:pPr algn="ctr" rtl="0" fontAlgn="base">
                        <a:lnSpc>
                          <a:spcPts val="1650"/>
                        </a:lnSpc>
                        <a:buNone/>
                      </a:pPr>
                      <a:r>
                        <a:rPr lang="en-IN" sz="1800" b="1" i="0" dirty="0">
                          <a:solidFill>
                            <a:srgbClr val="1B1C1D"/>
                          </a:solidFill>
                          <a:effectLst/>
                          <a:latin typeface="Google Sans Text"/>
                        </a:rPr>
                        <a:t>Neural Network</a:t>
                      </a:r>
                      <a:endParaRPr lang="en-IN" sz="1800" b="0" i="0" dirty="0">
                        <a:solidFill>
                          <a:srgbClr val="000000"/>
                        </a:solidFill>
                        <a:effectLst/>
                      </a:endParaRP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B183"/>
                    </a:solidFill>
                  </a:tcPr>
                </a:tc>
                <a:extLst>
                  <a:ext uri="{0D108BD9-81ED-4DB2-BD59-A6C34878D82A}">
                    <a16:rowId xmlns:a16="http://schemas.microsoft.com/office/drawing/2014/main" val="2016456592"/>
                  </a:ext>
                </a:extLst>
              </a:tr>
            </a:tbl>
          </a:graphicData>
        </a:graphic>
      </p:graphicFrame>
    </p:spTree>
    <p:extLst>
      <p:ext uri="{BB962C8B-B14F-4D97-AF65-F5344CB8AC3E}">
        <p14:creationId xmlns:p14="http://schemas.microsoft.com/office/powerpoint/2010/main" val="1236785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7524B5-88DB-88DF-A640-ADD6BDCF3199}"/>
              </a:ext>
            </a:extLst>
          </p:cNvPr>
          <p:cNvSpPr>
            <a:spLocks noGrp="1"/>
          </p:cNvSpPr>
          <p:nvPr>
            <p:ph type="sldNum" sz="quarter" idx="12"/>
          </p:nvPr>
        </p:nvSpPr>
        <p:spPr>
          <a:xfrm>
            <a:off x="11525877" y="6404419"/>
            <a:ext cx="620843" cy="365125"/>
          </a:xfrm>
        </p:spPr>
        <p:txBody>
          <a:bodyPr/>
          <a:lstStyle/>
          <a:p>
            <a:fld id="{8FBEC28E-4BEC-434E-A174-17C0E8C4B2B2}" type="slidenum">
              <a:rPr lang="en-US" smtClean="0"/>
              <a:pPr/>
              <a:t>13</a:t>
            </a:fld>
            <a:endParaRPr lang="en-US" dirty="0"/>
          </a:p>
        </p:txBody>
      </p:sp>
      <p:sp>
        <p:nvSpPr>
          <p:cNvPr id="10" name="TextBox 9">
            <a:extLst>
              <a:ext uri="{FF2B5EF4-FFF2-40B4-BE49-F238E27FC236}">
                <a16:creationId xmlns:a16="http://schemas.microsoft.com/office/drawing/2014/main" id="{3FE4007C-9CF0-CB18-DA42-9A611FDD2516}"/>
              </a:ext>
            </a:extLst>
          </p:cNvPr>
          <p:cNvSpPr txBox="1"/>
          <p:nvPr/>
        </p:nvSpPr>
        <p:spPr>
          <a:xfrm>
            <a:off x="542078" y="84181"/>
            <a:ext cx="5818771" cy="584775"/>
          </a:xfrm>
          <a:prstGeom prst="rect">
            <a:avLst/>
          </a:prstGeom>
          <a:noFill/>
        </p:spPr>
        <p:txBody>
          <a:bodyPr wrap="square" rtlCol="0">
            <a:spAutoFit/>
          </a:bodyPr>
          <a:lstStyle/>
          <a:p>
            <a:r>
              <a:rPr lang="en-US" sz="3200" b="1" dirty="0">
                <a:solidFill>
                  <a:srgbClr val="FF0000"/>
                </a:solidFill>
              </a:rPr>
              <a:t>ML pipeline</a:t>
            </a:r>
          </a:p>
        </p:txBody>
      </p:sp>
      <p:sp>
        <p:nvSpPr>
          <p:cNvPr id="3" name="Rectangle: Rounded Corners 2">
            <a:extLst>
              <a:ext uri="{FF2B5EF4-FFF2-40B4-BE49-F238E27FC236}">
                <a16:creationId xmlns:a16="http://schemas.microsoft.com/office/drawing/2014/main" id="{AF068BAB-A29D-263E-16BE-098E8F20F72C}"/>
              </a:ext>
            </a:extLst>
          </p:cNvPr>
          <p:cNvSpPr/>
          <p:nvPr/>
        </p:nvSpPr>
        <p:spPr>
          <a:xfrm>
            <a:off x="4150441" y="857252"/>
            <a:ext cx="2304421" cy="53340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Develop EAM potential</a:t>
            </a:r>
          </a:p>
        </p:txBody>
      </p:sp>
      <p:sp>
        <p:nvSpPr>
          <p:cNvPr id="4" name="Rectangle: Rounded Corners 3">
            <a:extLst>
              <a:ext uri="{FF2B5EF4-FFF2-40B4-BE49-F238E27FC236}">
                <a16:creationId xmlns:a16="http://schemas.microsoft.com/office/drawing/2014/main" id="{98CAA56C-7BAE-5A4E-19D0-896BB2B91FA9}"/>
              </a:ext>
            </a:extLst>
          </p:cNvPr>
          <p:cNvSpPr/>
          <p:nvPr/>
        </p:nvSpPr>
        <p:spPr>
          <a:xfrm>
            <a:off x="4403000" y="1693607"/>
            <a:ext cx="1799303" cy="41418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MD Simulation</a:t>
            </a:r>
          </a:p>
        </p:txBody>
      </p:sp>
      <p:sp>
        <p:nvSpPr>
          <p:cNvPr id="6" name="Rectangle: Rounded Corners 5">
            <a:extLst>
              <a:ext uri="{FF2B5EF4-FFF2-40B4-BE49-F238E27FC236}">
                <a16:creationId xmlns:a16="http://schemas.microsoft.com/office/drawing/2014/main" id="{CFB18B85-CC51-A0B5-97A4-08F219CF75C6}"/>
              </a:ext>
            </a:extLst>
          </p:cNvPr>
          <p:cNvSpPr/>
          <p:nvPr/>
        </p:nvSpPr>
        <p:spPr>
          <a:xfrm>
            <a:off x="4385178" y="2474043"/>
            <a:ext cx="1834945" cy="39697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Simulated Data</a:t>
            </a:r>
          </a:p>
        </p:txBody>
      </p:sp>
      <p:sp>
        <p:nvSpPr>
          <p:cNvPr id="7" name="Rectangle: Rounded Corners 6">
            <a:extLst>
              <a:ext uri="{FF2B5EF4-FFF2-40B4-BE49-F238E27FC236}">
                <a16:creationId xmlns:a16="http://schemas.microsoft.com/office/drawing/2014/main" id="{7C2FA5CD-8E12-7347-BCF4-2601D984BDB1}"/>
              </a:ext>
            </a:extLst>
          </p:cNvPr>
          <p:cNvSpPr/>
          <p:nvPr/>
        </p:nvSpPr>
        <p:spPr>
          <a:xfrm>
            <a:off x="4344005" y="3200400"/>
            <a:ext cx="1917290" cy="45720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Data Normalisation</a:t>
            </a:r>
          </a:p>
        </p:txBody>
      </p:sp>
      <p:sp>
        <p:nvSpPr>
          <p:cNvPr id="8" name="Diamond 7">
            <a:extLst>
              <a:ext uri="{FF2B5EF4-FFF2-40B4-BE49-F238E27FC236}">
                <a16:creationId xmlns:a16="http://schemas.microsoft.com/office/drawing/2014/main" id="{92A86D16-6B19-4BD5-7BDC-E724B9E01BFD}"/>
              </a:ext>
            </a:extLst>
          </p:cNvPr>
          <p:cNvSpPr/>
          <p:nvPr/>
        </p:nvSpPr>
        <p:spPr>
          <a:xfrm>
            <a:off x="4467522" y="3856705"/>
            <a:ext cx="1670255" cy="1090150"/>
          </a:xfrm>
          <a:prstGeom prst="diamond">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Spilt Data</a:t>
            </a:r>
          </a:p>
        </p:txBody>
      </p:sp>
      <p:sp>
        <p:nvSpPr>
          <p:cNvPr id="9" name="Rectangle: Rounded Corners 8">
            <a:extLst>
              <a:ext uri="{FF2B5EF4-FFF2-40B4-BE49-F238E27FC236}">
                <a16:creationId xmlns:a16="http://schemas.microsoft.com/office/drawing/2014/main" id="{FA9E9719-DDA6-61F4-F17C-C32CF0ED95D3}"/>
              </a:ext>
            </a:extLst>
          </p:cNvPr>
          <p:cNvSpPr/>
          <p:nvPr/>
        </p:nvSpPr>
        <p:spPr>
          <a:xfrm>
            <a:off x="7315200" y="4186392"/>
            <a:ext cx="1905000" cy="43077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Test Data</a:t>
            </a:r>
          </a:p>
        </p:txBody>
      </p:sp>
      <p:sp>
        <p:nvSpPr>
          <p:cNvPr id="11" name="Rectangle: Rounded Corners 10">
            <a:extLst>
              <a:ext uri="{FF2B5EF4-FFF2-40B4-BE49-F238E27FC236}">
                <a16:creationId xmlns:a16="http://schemas.microsoft.com/office/drawing/2014/main" id="{DFA51A57-99B7-B223-882D-79B9A696BDD1}"/>
              </a:ext>
            </a:extLst>
          </p:cNvPr>
          <p:cNvSpPr/>
          <p:nvPr/>
        </p:nvSpPr>
        <p:spPr>
          <a:xfrm>
            <a:off x="2209800" y="4876801"/>
            <a:ext cx="1752600" cy="451053"/>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Linear</a:t>
            </a:r>
            <a:r>
              <a:rPr lang="en-IN" sz="1600" dirty="0"/>
              <a:t> </a:t>
            </a:r>
            <a:r>
              <a:rPr lang="en-IN" sz="1600" dirty="0">
                <a:solidFill>
                  <a:schemeClr val="tx1"/>
                </a:solidFill>
              </a:rPr>
              <a:t>Regression</a:t>
            </a:r>
          </a:p>
        </p:txBody>
      </p:sp>
      <p:sp>
        <p:nvSpPr>
          <p:cNvPr id="12" name="Rectangle: Rounded Corners 11">
            <a:extLst>
              <a:ext uri="{FF2B5EF4-FFF2-40B4-BE49-F238E27FC236}">
                <a16:creationId xmlns:a16="http://schemas.microsoft.com/office/drawing/2014/main" id="{377DE96A-B0D0-0028-8967-CBB672DA9BEA}"/>
              </a:ext>
            </a:extLst>
          </p:cNvPr>
          <p:cNvSpPr/>
          <p:nvPr/>
        </p:nvSpPr>
        <p:spPr>
          <a:xfrm>
            <a:off x="6082471" y="4876801"/>
            <a:ext cx="1670255" cy="451049"/>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Neural Network</a:t>
            </a:r>
          </a:p>
        </p:txBody>
      </p:sp>
      <p:sp>
        <p:nvSpPr>
          <p:cNvPr id="13" name="Rectangle: Rounded Corners 12">
            <a:extLst>
              <a:ext uri="{FF2B5EF4-FFF2-40B4-BE49-F238E27FC236}">
                <a16:creationId xmlns:a16="http://schemas.microsoft.com/office/drawing/2014/main" id="{15A56782-E629-F62D-FCDF-8F09557CAFF5}"/>
              </a:ext>
            </a:extLst>
          </p:cNvPr>
          <p:cNvSpPr/>
          <p:nvPr/>
        </p:nvSpPr>
        <p:spPr>
          <a:xfrm>
            <a:off x="3962400" y="5684273"/>
            <a:ext cx="1981200" cy="522593"/>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Models Evaluation &amp; Comparison</a:t>
            </a:r>
          </a:p>
        </p:txBody>
      </p:sp>
      <p:cxnSp>
        <p:nvCxnSpPr>
          <p:cNvPr id="15" name="Straight Arrow Connector 14">
            <a:extLst>
              <a:ext uri="{FF2B5EF4-FFF2-40B4-BE49-F238E27FC236}">
                <a16:creationId xmlns:a16="http://schemas.microsoft.com/office/drawing/2014/main" id="{A2330DFD-4464-07C3-F38A-CB10609BF0F1}"/>
              </a:ext>
            </a:extLst>
          </p:cNvPr>
          <p:cNvCxnSpPr>
            <a:stCxn id="3" idx="2"/>
            <a:endCxn id="4" idx="0"/>
          </p:cNvCxnSpPr>
          <p:nvPr/>
        </p:nvCxnSpPr>
        <p:spPr>
          <a:xfrm>
            <a:off x="5302652" y="1390652"/>
            <a:ext cx="0" cy="30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4DEBF6C-612E-C866-D963-562BD0F9CE56}"/>
              </a:ext>
            </a:extLst>
          </p:cNvPr>
          <p:cNvCxnSpPr>
            <a:stCxn id="4" idx="2"/>
            <a:endCxn id="6" idx="0"/>
          </p:cNvCxnSpPr>
          <p:nvPr/>
        </p:nvCxnSpPr>
        <p:spPr>
          <a:xfrm flipH="1">
            <a:off x="5302651" y="2107791"/>
            <a:ext cx="1" cy="366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A248E0C-BE1E-B7C2-C1F2-704F78C4D8AC}"/>
              </a:ext>
            </a:extLst>
          </p:cNvPr>
          <p:cNvCxnSpPr>
            <a:stCxn id="6" idx="2"/>
            <a:endCxn id="7" idx="0"/>
          </p:cNvCxnSpPr>
          <p:nvPr/>
        </p:nvCxnSpPr>
        <p:spPr>
          <a:xfrm flipH="1">
            <a:off x="5302650" y="2871020"/>
            <a:ext cx="1" cy="329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0B456DD-786F-0F57-539F-0E03415888AD}"/>
              </a:ext>
            </a:extLst>
          </p:cNvPr>
          <p:cNvCxnSpPr>
            <a:stCxn id="7" idx="2"/>
            <a:endCxn id="8" idx="0"/>
          </p:cNvCxnSpPr>
          <p:nvPr/>
        </p:nvCxnSpPr>
        <p:spPr>
          <a:xfrm>
            <a:off x="5302650" y="3657600"/>
            <a:ext cx="0" cy="199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6307BBA1-AF34-B74A-ED5E-DA981E3F24EF}"/>
              </a:ext>
            </a:extLst>
          </p:cNvPr>
          <p:cNvCxnSpPr>
            <a:stCxn id="8" idx="1"/>
            <a:endCxn id="11" idx="0"/>
          </p:cNvCxnSpPr>
          <p:nvPr/>
        </p:nvCxnSpPr>
        <p:spPr>
          <a:xfrm rot="10800000" flipV="1">
            <a:off x="3086100" y="4401779"/>
            <a:ext cx="1381422" cy="4750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A245D185-BA41-01D3-33AD-335D543A32FD}"/>
              </a:ext>
            </a:extLst>
          </p:cNvPr>
          <p:cNvCxnSpPr>
            <a:stCxn id="8" idx="3"/>
            <a:endCxn id="9" idx="1"/>
          </p:cNvCxnSpPr>
          <p:nvPr/>
        </p:nvCxnSpPr>
        <p:spPr>
          <a:xfrm flipV="1">
            <a:off x="6137777" y="4401779"/>
            <a:ext cx="1177423"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70F907FB-8223-40A1-B7E2-A14A8D07DB3A}"/>
              </a:ext>
            </a:extLst>
          </p:cNvPr>
          <p:cNvCxnSpPr>
            <a:cxnSpLocks/>
            <a:stCxn id="8" idx="2"/>
            <a:endCxn id="12" idx="1"/>
          </p:cNvCxnSpPr>
          <p:nvPr/>
        </p:nvCxnSpPr>
        <p:spPr>
          <a:xfrm rot="16200000" flipH="1">
            <a:off x="5614825" y="4634679"/>
            <a:ext cx="155471" cy="7798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CC00531-23F3-FF5E-AF10-0DA2244FBDE8}"/>
              </a:ext>
            </a:extLst>
          </p:cNvPr>
          <p:cNvCxnSpPr>
            <a:stCxn id="11" idx="2"/>
            <a:endCxn id="13" idx="0"/>
          </p:cNvCxnSpPr>
          <p:nvPr/>
        </p:nvCxnSpPr>
        <p:spPr>
          <a:xfrm rot="16200000" flipH="1">
            <a:off x="3841341" y="4572613"/>
            <a:ext cx="356419" cy="18669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819347C7-4179-B84C-FB29-B477FD247639}"/>
              </a:ext>
            </a:extLst>
          </p:cNvPr>
          <p:cNvCxnSpPr>
            <a:stCxn id="12" idx="2"/>
            <a:endCxn id="13" idx="0"/>
          </p:cNvCxnSpPr>
          <p:nvPr/>
        </p:nvCxnSpPr>
        <p:spPr>
          <a:xfrm rot="5400000">
            <a:off x="5757089" y="4523762"/>
            <a:ext cx="356423" cy="19645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7F55862B-D35C-D0CB-5586-23FCC8BECA7B}"/>
              </a:ext>
            </a:extLst>
          </p:cNvPr>
          <p:cNvCxnSpPr>
            <a:stCxn id="9" idx="2"/>
            <a:endCxn id="13" idx="3"/>
          </p:cNvCxnSpPr>
          <p:nvPr/>
        </p:nvCxnSpPr>
        <p:spPr>
          <a:xfrm rot="5400000">
            <a:off x="6441448" y="4119318"/>
            <a:ext cx="1328404" cy="23241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5059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C3A6FE-DD1C-2F5D-BD62-0F936D96F1D5}"/>
              </a:ext>
            </a:extLst>
          </p:cNvPr>
          <p:cNvSpPr txBox="1"/>
          <p:nvPr/>
        </p:nvSpPr>
        <p:spPr>
          <a:xfrm>
            <a:off x="457200" y="228600"/>
            <a:ext cx="6019800" cy="584775"/>
          </a:xfrm>
          <a:prstGeom prst="rect">
            <a:avLst/>
          </a:prstGeom>
          <a:noFill/>
        </p:spPr>
        <p:txBody>
          <a:bodyPr wrap="square" rtlCol="0">
            <a:spAutoFit/>
          </a:bodyPr>
          <a:lstStyle/>
          <a:p>
            <a:r>
              <a:rPr lang="en-IN" sz="3200" dirty="0">
                <a:solidFill>
                  <a:srgbClr val="FF0000"/>
                </a:solidFill>
              </a:rPr>
              <a:t>Linear Regression Model</a:t>
            </a:r>
          </a:p>
        </p:txBody>
      </p:sp>
      <p:pic>
        <p:nvPicPr>
          <p:cNvPr id="5" name="Picture 4">
            <a:extLst>
              <a:ext uri="{FF2B5EF4-FFF2-40B4-BE49-F238E27FC236}">
                <a16:creationId xmlns:a16="http://schemas.microsoft.com/office/drawing/2014/main" id="{4C29BE29-425D-EE21-A794-D886CDF6C538}"/>
              </a:ext>
            </a:extLst>
          </p:cNvPr>
          <p:cNvPicPr>
            <a:picLocks noChangeAspect="1"/>
          </p:cNvPicPr>
          <p:nvPr/>
        </p:nvPicPr>
        <p:blipFill>
          <a:blip r:embed="rId2"/>
          <a:stretch>
            <a:fillRect/>
          </a:stretch>
        </p:blipFill>
        <p:spPr>
          <a:xfrm>
            <a:off x="1905000" y="1066800"/>
            <a:ext cx="7620000" cy="5715000"/>
          </a:xfrm>
          <a:prstGeom prst="rect">
            <a:avLst/>
          </a:prstGeom>
        </p:spPr>
      </p:pic>
    </p:spTree>
    <p:extLst>
      <p:ext uri="{BB962C8B-B14F-4D97-AF65-F5344CB8AC3E}">
        <p14:creationId xmlns:p14="http://schemas.microsoft.com/office/powerpoint/2010/main" val="3092712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4BCFD-C376-C51B-E0B8-F282F782CF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67368E-DDD4-3AE9-AA5F-0DDC98EB44CD}"/>
              </a:ext>
            </a:extLst>
          </p:cNvPr>
          <p:cNvSpPr txBox="1"/>
          <p:nvPr/>
        </p:nvSpPr>
        <p:spPr>
          <a:xfrm>
            <a:off x="457200" y="228600"/>
            <a:ext cx="6019800" cy="584775"/>
          </a:xfrm>
          <a:prstGeom prst="rect">
            <a:avLst/>
          </a:prstGeom>
          <a:noFill/>
        </p:spPr>
        <p:txBody>
          <a:bodyPr wrap="square" rtlCol="0">
            <a:spAutoFit/>
          </a:bodyPr>
          <a:lstStyle/>
          <a:p>
            <a:r>
              <a:rPr lang="en-IN" sz="3200" dirty="0">
                <a:solidFill>
                  <a:srgbClr val="FF0000"/>
                </a:solidFill>
              </a:rPr>
              <a:t>Neural Network Model</a:t>
            </a:r>
          </a:p>
        </p:txBody>
      </p:sp>
      <p:pic>
        <p:nvPicPr>
          <p:cNvPr id="5" name="Picture 4">
            <a:extLst>
              <a:ext uri="{FF2B5EF4-FFF2-40B4-BE49-F238E27FC236}">
                <a16:creationId xmlns:a16="http://schemas.microsoft.com/office/drawing/2014/main" id="{296F86E4-F95F-B05D-7C16-21CF5227BCAC}"/>
              </a:ext>
            </a:extLst>
          </p:cNvPr>
          <p:cNvPicPr>
            <a:picLocks noChangeAspect="1"/>
          </p:cNvPicPr>
          <p:nvPr/>
        </p:nvPicPr>
        <p:blipFill>
          <a:blip r:embed="rId2"/>
          <a:stretch>
            <a:fillRect/>
          </a:stretch>
        </p:blipFill>
        <p:spPr>
          <a:xfrm>
            <a:off x="2590800" y="1066800"/>
            <a:ext cx="5715000" cy="5715000"/>
          </a:xfrm>
          <a:prstGeom prst="rect">
            <a:avLst/>
          </a:prstGeom>
        </p:spPr>
      </p:pic>
    </p:spTree>
    <p:extLst>
      <p:ext uri="{BB962C8B-B14F-4D97-AF65-F5344CB8AC3E}">
        <p14:creationId xmlns:p14="http://schemas.microsoft.com/office/powerpoint/2010/main" val="401619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8600" y="432393"/>
            <a:ext cx="6885384" cy="360462"/>
          </a:xfrm>
          <a:prstGeom prst="rect">
            <a:avLst/>
          </a:prstGeom>
          <a:noFill/>
          <a:ln/>
        </p:spPr>
        <p:txBody>
          <a:bodyPr wrap="none" lIns="0" tIns="0" rIns="0" bIns="0" rtlCol="0" anchor="t"/>
          <a:lstStyle/>
          <a:p>
            <a:pPr>
              <a:lnSpc>
                <a:spcPts val="2833"/>
              </a:lnSpc>
            </a:pPr>
            <a:r>
              <a:rPr lang="en-US" sz="4000" b="1" dirty="0">
                <a:solidFill>
                  <a:srgbClr val="FF0000"/>
                </a:solidFill>
                <a:latin typeface="Instrument Sans Semi Bold" pitchFamily="34" charset="0"/>
                <a:ea typeface="Instrument Sans Semi Bold" pitchFamily="34" charset="-122"/>
                <a:cs typeface="Instrument Sans Semi Bold" pitchFamily="34" charset="-120"/>
              </a:rPr>
              <a:t>Results Visualization</a:t>
            </a:r>
            <a:endParaRPr lang="en-US" sz="4000" b="1" dirty="0">
              <a:solidFill>
                <a:srgbClr val="FF0000"/>
              </a:solidFill>
            </a:endParaRPr>
          </a:p>
        </p:txBody>
      </p:sp>
      <p:sp>
        <p:nvSpPr>
          <p:cNvPr id="5" name="Text 2"/>
          <p:cNvSpPr/>
          <p:nvPr/>
        </p:nvSpPr>
        <p:spPr>
          <a:xfrm>
            <a:off x="-490255" y="5576967"/>
            <a:ext cx="5493842" cy="553641"/>
          </a:xfrm>
          <a:prstGeom prst="rect">
            <a:avLst/>
          </a:prstGeom>
          <a:noFill/>
          <a:ln/>
        </p:spPr>
        <p:txBody>
          <a:bodyPr wrap="square" lIns="0" tIns="0" rIns="0" bIns="0" rtlCol="0" anchor="t"/>
          <a:lstStyle/>
          <a:p>
            <a:pPr>
              <a:lnSpc>
                <a:spcPts val="1417"/>
              </a:lnSpc>
            </a:pPr>
            <a:endParaRPr lang="en-US" sz="875" dirty="0"/>
          </a:p>
        </p:txBody>
      </p:sp>
      <p:sp>
        <p:nvSpPr>
          <p:cNvPr id="8" name="Text 5"/>
          <p:cNvSpPr/>
          <p:nvPr/>
        </p:nvSpPr>
        <p:spPr>
          <a:xfrm>
            <a:off x="6243042" y="1628180"/>
            <a:ext cx="5493842" cy="194767"/>
          </a:xfrm>
          <a:prstGeom prst="rect">
            <a:avLst/>
          </a:prstGeom>
          <a:noFill/>
          <a:ln/>
        </p:spPr>
        <p:txBody>
          <a:bodyPr wrap="none" lIns="0" tIns="0" rIns="0" bIns="0" rtlCol="0" anchor="t"/>
          <a:lstStyle/>
          <a:p>
            <a:pPr>
              <a:lnSpc>
                <a:spcPts val="1625"/>
              </a:lnSpc>
            </a:pPr>
            <a:endParaRPr lang="en-US" sz="1000" dirty="0"/>
          </a:p>
        </p:txBody>
      </p:sp>
      <p:sp>
        <p:nvSpPr>
          <p:cNvPr id="14" name="Rectangle 13">
            <a:extLst>
              <a:ext uri="{FF2B5EF4-FFF2-40B4-BE49-F238E27FC236}">
                <a16:creationId xmlns:a16="http://schemas.microsoft.com/office/drawing/2014/main" id="{D541AD5B-D97F-7013-46BA-2CEC952DF9DE}"/>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993F336B-3179-E13D-5CA8-9027B4BEE203}"/>
              </a:ext>
            </a:extLst>
          </p:cNvPr>
          <p:cNvPicPr>
            <a:picLocks noChangeAspect="1"/>
          </p:cNvPicPr>
          <p:nvPr/>
        </p:nvPicPr>
        <p:blipFill>
          <a:blip r:embed="rId3"/>
          <a:stretch>
            <a:fillRect/>
          </a:stretch>
        </p:blipFill>
        <p:spPr>
          <a:xfrm>
            <a:off x="10600434" y="6453199"/>
            <a:ext cx="1591566" cy="348155"/>
          </a:xfrm>
          <a:prstGeom prst="rect">
            <a:avLst/>
          </a:prstGeom>
        </p:spPr>
      </p:pic>
      <p:pic>
        <p:nvPicPr>
          <p:cNvPr id="1026" name="Picture 2" descr="Generated Image">
            <a:extLst>
              <a:ext uri="{FF2B5EF4-FFF2-40B4-BE49-F238E27FC236}">
                <a16:creationId xmlns:a16="http://schemas.microsoft.com/office/drawing/2014/main" id="{170172FC-06E0-7981-BC9C-D653329B2C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
          <a:stretch>
            <a:fillRect/>
          </a:stretch>
        </p:blipFill>
        <p:spPr bwMode="auto">
          <a:xfrm>
            <a:off x="1295400" y="1447800"/>
            <a:ext cx="8610600" cy="5195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B2510E-C28F-DB7C-BAFF-92C98B4F4F7C}"/>
              </a:ext>
            </a:extLst>
          </p:cNvPr>
          <p:cNvPicPr>
            <a:picLocks noChangeAspect="1"/>
          </p:cNvPicPr>
          <p:nvPr/>
        </p:nvPicPr>
        <p:blipFill>
          <a:blip r:embed="rId2"/>
          <a:stretch>
            <a:fillRect/>
          </a:stretch>
        </p:blipFill>
        <p:spPr>
          <a:xfrm>
            <a:off x="5105400" y="558441"/>
            <a:ext cx="6553200" cy="4829175"/>
          </a:xfrm>
          <a:prstGeom prst="rect">
            <a:avLst/>
          </a:prstGeom>
        </p:spPr>
      </p:pic>
      <p:pic>
        <p:nvPicPr>
          <p:cNvPr id="6" name="Picture 5">
            <a:extLst>
              <a:ext uri="{FF2B5EF4-FFF2-40B4-BE49-F238E27FC236}">
                <a16:creationId xmlns:a16="http://schemas.microsoft.com/office/drawing/2014/main" id="{970A70FE-2D23-D29E-9D40-27BD32FBD49E}"/>
              </a:ext>
            </a:extLst>
          </p:cNvPr>
          <p:cNvPicPr>
            <a:picLocks noChangeAspect="1"/>
          </p:cNvPicPr>
          <p:nvPr/>
        </p:nvPicPr>
        <p:blipFill>
          <a:blip r:embed="rId3"/>
          <a:stretch>
            <a:fillRect/>
          </a:stretch>
        </p:blipFill>
        <p:spPr>
          <a:xfrm>
            <a:off x="254000" y="990600"/>
            <a:ext cx="5842000" cy="4381500"/>
          </a:xfrm>
          <a:prstGeom prst="rect">
            <a:avLst/>
          </a:prstGeom>
        </p:spPr>
      </p:pic>
    </p:spTree>
    <p:extLst>
      <p:ext uri="{BB962C8B-B14F-4D97-AF65-F5344CB8AC3E}">
        <p14:creationId xmlns:p14="http://schemas.microsoft.com/office/powerpoint/2010/main" val="3879473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A6E34A-5F72-1EC8-170B-EFA9CF1DE6B9}"/>
              </a:ext>
            </a:extLst>
          </p:cNvPr>
          <p:cNvSpPr txBox="1"/>
          <p:nvPr/>
        </p:nvSpPr>
        <p:spPr>
          <a:xfrm>
            <a:off x="-2458" y="497193"/>
            <a:ext cx="10256676" cy="497059"/>
          </a:xfrm>
          <a:prstGeom prst="rect">
            <a:avLst/>
          </a:prstGeom>
          <a:noFill/>
        </p:spPr>
        <p:txBody>
          <a:bodyPr wrap="square">
            <a:spAutoFit/>
          </a:bodyPr>
          <a:lstStyle/>
          <a:p>
            <a:pPr>
              <a:lnSpc>
                <a:spcPts val="2833"/>
              </a:lnSpc>
            </a:pPr>
            <a:r>
              <a:rPr lang="en-US" sz="4000" b="1" dirty="0">
                <a:solidFill>
                  <a:srgbClr val="FF0000"/>
                </a:solidFill>
              </a:rPr>
              <a:t>Training vs Testing Error </a:t>
            </a:r>
          </a:p>
        </p:txBody>
      </p:sp>
      <p:sp>
        <p:nvSpPr>
          <p:cNvPr id="6" name="Rectangle 5">
            <a:extLst>
              <a:ext uri="{FF2B5EF4-FFF2-40B4-BE49-F238E27FC236}">
                <a16:creationId xmlns:a16="http://schemas.microsoft.com/office/drawing/2014/main" id="{2FC1E448-EEC8-6A4C-AFB0-341DBFD761DB}"/>
              </a:ext>
            </a:extLst>
          </p:cNvPr>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78B32F7-DC23-F114-8BEE-7E7E93851F6F}"/>
              </a:ext>
            </a:extLst>
          </p:cNvPr>
          <p:cNvCxnSpPr>
            <a:cxnSpLocks/>
          </p:cNvCxnSpPr>
          <p:nvPr/>
        </p:nvCxnSpPr>
        <p:spPr>
          <a:xfrm>
            <a:off x="0" y="648944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EB37DDC-6DD7-A9A3-DE72-E5FD2E2F4BA3}"/>
              </a:ext>
            </a:extLst>
          </p:cNvPr>
          <p:cNvPicPr>
            <a:picLocks noChangeAspect="1"/>
          </p:cNvPicPr>
          <p:nvPr/>
        </p:nvPicPr>
        <p:blipFill>
          <a:blip r:embed="rId2"/>
          <a:stretch>
            <a:fillRect/>
          </a:stretch>
        </p:blipFill>
        <p:spPr>
          <a:xfrm>
            <a:off x="633209" y="1111045"/>
            <a:ext cx="9623467" cy="5124269"/>
          </a:xfrm>
          <a:prstGeom prst="rect">
            <a:avLst/>
          </a:prstGeom>
        </p:spPr>
      </p:pic>
    </p:spTree>
    <p:extLst>
      <p:ext uri="{BB962C8B-B14F-4D97-AF65-F5344CB8AC3E}">
        <p14:creationId xmlns:p14="http://schemas.microsoft.com/office/powerpoint/2010/main" val="2728044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Conclusions</a:t>
            </a:r>
          </a:p>
        </p:txBody>
      </p:sp>
      <p:sp>
        <p:nvSpPr>
          <p:cNvPr id="3" name="object 3"/>
          <p:cNvSpPr txBox="1"/>
          <p:nvPr/>
        </p:nvSpPr>
        <p:spPr>
          <a:xfrm>
            <a:off x="11632251" y="6460239"/>
            <a:ext cx="257175" cy="299720"/>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681450"/>
                </a:solidFill>
                <a:latin typeface="Calibri"/>
                <a:cs typeface="Calibri"/>
              </a:rPr>
              <a:t>17</a:t>
            </a:r>
            <a:endParaRPr sz="1800">
              <a:latin typeface="Calibri"/>
              <a:cs typeface="Calibri"/>
            </a:endParaRPr>
          </a:p>
        </p:txBody>
      </p:sp>
      <p:sp>
        <p:nvSpPr>
          <p:cNvPr id="4" name="object 4"/>
          <p:cNvSpPr/>
          <p:nvPr/>
        </p:nvSpPr>
        <p:spPr>
          <a:xfrm>
            <a:off x="0" y="6390425"/>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681450"/>
          </a:solidFill>
        </p:spPr>
        <p:txBody>
          <a:bodyPr wrap="square" lIns="0" tIns="0" rIns="0" bIns="0" rtlCol="0"/>
          <a:lstStyle/>
          <a:p>
            <a:endParaRPr/>
          </a:p>
        </p:txBody>
      </p:sp>
      <p:sp>
        <p:nvSpPr>
          <p:cNvPr id="5" name="object 5"/>
          <p:cNvSpPr txBox="1"/>
          <p:nvPr/>
        </p:nvSpPr>
        <p:spPr>
          <a:xfrm>
            <a:off x="111134" y="754834"/>
            <a:ext cx="11646535" cy="4013919"/>
          </a:xfrm>
          <a:prstGeom prst="rect">
            <a:avLst/>
          </a:prstGeom>
        </p:spPr>
        <p:txBody>
          <a:bodyPr vert="horz" wrap="square" lIns="0" tIns="12700" rIns="0" bIns="0" rtlCol="0">
            <a:spAutoFit/>
          </a:bodyPr>
          <a:lstStyle/>
          <a:p>
            <a:endParaRPr lang="en-US" sz="2000" dirty="0"/>
          </a:p>
          <a:p>
            <a:pPr marL="257810" marR="6985" indent="-245745" algn="just">
              <a:spcBef>
                <a:spcPts val="2400"/>
              </a:spcBef>
              <a:buFont typeface="Arial"/>
              <a:buChar char="•"/>
              <a:tabLst>
                <a:tab pos="259715" algn="l"/>
              </a:tabLst>
            </a:pPr>
            <a:r>
              <a:rPr lang="en-US" sz="2000" dirty="0"/>
              <a:t>Developed a </a:t>
            </a:r>
            <a:r>
              <a:rPr lang="en-US" sz="2000" b="1" dirty="0">
                <a:solidFill>
                  <a:srgbClr val="00B0F0"/>
                </a:solidFill>
              </a:rPr>
              <a:t>linear regression model and neural network model </a:t>
            </a:r>
            <a:r>
              <a:rPr lang="en-US" sz="2000" dirty="0"/>
              <a:t>to predict the potential energies of </a:t>
            </a:r>
            <a:r>
              <a:rPr lang="en-US" sz="2000" b="1" dirty="0" err="1">
                <a:solidFill>
                  <a:srgbClr val="FF0000"/>
                </a:solidFill>
              </a:rPr>
              <a:t>CuZr</a:t>
            </a:r>
            <a:r>
              <a:rPr lang="en-US" sz="2000" b="1" dirty="0">
                <a:solidFill>
                  <a:srgbClr val="FF0000"/>
                </a:solidFill>
              </a:rPr>
              <a:t> </a:t>
            </a:r>
            <a:r>
              <a:rPr lang="en-US" sz="2000" dirty="0"/>
              <a:t>using </a:t>
            </a:r>
            <a:r>
              <a:rPr lang="en-US" sz="2000" b="1" dirty="0">
                <a:solidFill>
                  <a:srgbClr val="FF0000"/>
                </a:solidFill>
              </a:rPr>
              <a:t>temperature ,pressure and volume</a:t>
            </a:r>
            <a:r>
              <a:rPr lang="en-US" sz="2000" dirty="0">
                <a:solidFill>
                  <a:srgbClr val="FF0000"/>
                </a:solidFill>
              </a:rPr>
              <a:t> </a:t>
            </a:r>
            <a:r>
              <a:rPr lang="en-US" sz="2000" dirty="0"/>
              <a:t>as inputs from MD simulation data.</a:t>
            </a:r>
          </a:p>
          <a:p>
            <a:pPr marL="257810" marR="6985" indent="-245745" algn="just">
              <a:spcBef>
                <a:spcPts val="2400"/>
              </a:spcBef>
              <a:buFont typeface="Arial"/>
              <a:buChar char="•"/>
              <a:tabLst>
                <a:tab pos="259715" algn="l"/>
              </a:tabLst>
            </a:pPr>
            <a:r>
              <a:rPr lang="en-US" sz="2000" dirty="0"/>
              <a:t>The model effectively reflects the relationship between potential energy and changes in temperature, pressure, and volume, aligning well with the results obtained from molecular dynamics simulations.</a:t>
            </a:r>
          </a:p>
          <a:p>
            <a:pPr marL="257810" marR="5080" indent="-245745" algn="just">
              <a:lnSpc>
                <a:spcPct val="100000"/>
              </a:lnSpc>
              <a:spcBef>
                <a:spcPts val="2400"/>
              </a:spcBef>
              <a:buFont typeface="Arial"/>
              <a:buChar char="•"/>
              <a:tabLst>
                <a:tab pos="259715" algn="l"/>
              </a:tabLst>
            </a:pPr>
            <a:r>
              <a:rPr lang="en-US" sz="2000" dirty="0"/>
              <a:t>The Linear Regression model effectively predicts the thermal response of </a:t>
            </a:r>
            <a:r>
              <a:rPr lang="en-US" sz="2000" dirty="0" err="1"/>
              <a:t>CuZr</a:t>
            </a:r>
            <a:r>
              <a:rPr lang="en-US" sz="2000" dirty="0"/>
              <a:t>, showing strong agreement with molecular dynamics data and laying the foundation for advanced machine learning approaches in materials property prediction.</a:t>
            </a:r>
            <a:endParaRPr lang="en-IN" sz="2000" b="1" spc="-10" dirty="0">
              <a:latin typeface="Calibri"/>
              <a:cs typeface="Calibri"/>
            </a:endParaRPr>
          </a:p>
          <a:p>
            <a:pPr marL="257810" marR="5080" indent="-245745" algn="just">
              <a:lnSpc>
                <a:spcPct val="100000"/>
              </a:lnSpc>
              <a:spcBef>
                <a:spcPts val="2400"/>
              </a:spcBef>
              <a:buFont typeface="Arial"/>
              <a:buChar char="•"/>
              <a:tabLst>
                <a:tab pos="259715" algn="l"/>
              </a:tabLst>
            </a:pPr>
            <a:endParaRPr sz="20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895B90-8EAE-8969-240E-4EA5F304139A}"/>
              </a:ext>
            </a:extLst>
          </p:cNvPr>
          <p:cNvSpPr>
            <a:spLocks noGrp="1"/>
          </p:cNvSpPr>
          <p:nvPr>
            <p:ph type="body" idx="1"/>
          </p:nvPr>
        </p:nvSpPr>
        <p:spPr>
          <a:xfrm>
            <a:off x="3733800" y="2362200"/>
            <a:ext cx="6172199" cy="1477328"/>
          </a:xfrm>
        </p:spPr>
        <p:txBody>
          <a:bodyPr/>
          <a:lstStyle/>
          <a:p>
            <a:r>
              <a:rPr lang="en-IN" sz="9600" dirty="0">
                <a:solidFill>
                  <a:schemeClr val="tx1"/>
                </a:solidFill>
              </a:rPr>
              <a:t>Thank you </a:t>
            </a:r>
          </a:p>
        </p:txBody>
      </p:sp>
    </p:spTree>
    <p:extLst>
      <p:ext uri="{BB962C8B-B14F-4D97-AF65-F5344CB8AC3E}">
        <p14:creationId xmlns:p14="http://schemas.microsoft.com/office/powerpoint/2010/main" val="252702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1915</TotalTime>
  <Words>911</Words>
  <Application>Microsoft Office PowerPoint</Application>
  <PresentationFormat>Widescreen</PresentationFormat>
  <Paragraphs>137</Paragraphs>
  <Slides>20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Cambria Math</vt:lpstr>
      <vt:lpstr>Google Sans Text</vt:lpstr>
      <vt:lpstr>Instrument Sans Semi Bold</vt:lpstr>
      <vt:lpstr>Times New Roman</vt:lpstr>
      <vt:lpstr>Wingdings</vt:lpstr>
      <vt:lpstr>Office Theme</vt:lpstr>
      <vt:lpstr>Title: Machine Learning Prediction of Potential  Energy of CuZr</vt:lpstr>
      <vt:lpstr>PowerPoint Presentation</vt:lpstr>
      <vt:lpstr>Applications of Copper Zirconium(CuZr):- </vt:lpstr>
      <vt:lpstr>Why study CuZr PE? </vt:lpstr>
      <vt:lpstr>PowerPoint Presentation</vt:lpstr>
      <vt:lpstr>Embedded Atom Potential</vt:lpstr>
      <vt:lpstr>MD Simulation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RAMAVATH CHINNA RAYUDU</dc:creator>
  <cp:lastModifiedBy>RAMAVATH CHINNA RAYUDU</cp:lastModifiedBy>
  <cp:revision>40</cp:revision>
  <dcterms:created xsi:type="dcterms:W3CDTF">2025-10-26T09:35:55Z</dcterms:created>
  <dcterms:modified xsi:type="dcterms:W3CDTF">2025-11-17T15:38:34Z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2025-10-26T00:00:00Z</vt:filetime>
  </property>
  <property fmtid="{D5CDD505-2E9C-101B-9397-08002B2CF9AE}" pid="3" name="Creator">
    <vt:lpwstr>Google</vt:lpwstr>
  </property>
  <property fmtid="{D5CDD505-2E9C-101B-9397-08002B2CF9AE}" pid="4" name="LastSaved">
    <vt:filetime>2025-10-26T00:00:00Z</vt:filetime>
  </property>
</Properties>
</file>